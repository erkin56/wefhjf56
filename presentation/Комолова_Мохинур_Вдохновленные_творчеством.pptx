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 себе" id="{0bb40c47-17f6-dbee-0ad5-d35587baf051}">
          <p14:sldIdLst>
            <p14:sldId id="256"/>
            <p14:sldId id="257"/>
          </p14:sldIdLst>
        </p14:section>
        <p14:section name="Достижения" id="{d66e7ecf-0d71-b8f1-1e86-eb1986966b42}">
          <p14:sldIdLst>
            <p14:sldId id="258"/>
            <p14:sldId id="259"/>
            <p14:sldId id="260"/>
          </p14:sldIdLst>
        </p14:section>
        <p14:section name="Подтверждения" id="{d27a8ee8-2a30-44f1-d807-55f842711b0e}">
          <p14:sldIdLst>
            <p14:sldId id="261"/>
            <p14:sldId id="262"/>
          </p14:sldIdLst>
        </p14:section>
        <p14:section name="Итоги" id="{0cde9580-bc50-446d-d74a-d8568fb7aca1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Мохинур Комолова, я дизайнер костюма из Узбекистана. Учусь в магистратуре Санкт-Петербургского государственного университета промышленных технологий и дизайна. Номинация «Вдохновленные творчеством».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Мой путь: Ташкент, Петербург, Милан. В 2025 году я окончила бакалавриат Института дизайна костюма СПбГУПТД, сейчас учусь в магистратуре. Я создаю авторские костюмы на основе узбекского иката: соединяю традиционные ткани, ручную вышивку и перья с современным кроем. Кроме учёбы и творчества, я представляю Союз молодёжи Узбекистана в Северо-Западном федеральном округе. За плечами больше десяти конкурсных наград, пять недель моды и показы в Эрмитаже и Третьяковской галерее.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достижение: я придумала и запустила Всероссийский творческий конкурс «Код Бехзода». Камолиддин Бехзод: великий мастер восточной миниатюры, его называют Рафаэлем Востока. Моя роль: автор идеи и организатор. Я разработала концепцию и объединила партнёров: Генеральное консульство Республики Узбекистан в Санкт-Петербурге и Академию художеств Республики Узбекистан. Результат: появилась новая площадка культурного диалога России и Узбекистана.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Второе достижение: стажировка в NABA, Новой академии изящных искусств в Милане. Я получила квоту на обучение и прошла летнюю программу Fashion Design 2: 45 часов занятий с 15 по 25 июля 2025 года. Результат: сертификат NABA и европейский взгляд на то, как рождается коллекция, от исследования и идеи до готового образа.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Третье достижение: меня приняли в члены Санкт-Петербургского союза дизайнеров. Я представила портфолио своих коллекций на основе узбекского иката и получила удостоверение члена союза. Для меня это признание профессионального уровня и вход в профессиональную среду Петербурга: выставки, проекты, коллеги по цеху.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Мои коллекции видели на очень разных площадках. Этническая коллекция была представлена в Главном штабе Эрмитажа на форуме «Диалог культур», модели экспонировались в Третьяковской галерее. Я показывала коллекции на Dalian Fashion Week в Китае, на Volga, Don и Estet Fashion Week. В 2026 году коллекция «Хумо» вышла на MODAM Fashion Weekend и на фестивале «От ремесла к подиуму» в Рязани. Хумо: мифическая птица счастья, а в коллекции узбекский икат, ручная вышивка стеклярусом и перья.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Мои работы отмечены более чем десятью наградами. Главная: я победитель конкурса «Студент года 2025» в номинации «Лучший в художественном творчестве». А ещё Гран-при «Образов творчества», первое место конкурса «Синяя лента» за женскую форму машиниста метро Петербурга, призовые места «Пушкинского бала» и «Адмиралтейской иглы».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Чему я научилась за этот год? Переводить культурный код на язык современной моды, работать в международной среде и вести проект от идеи до запуска. Мои планы: провести следующий сезон «Кода Бехзода» с выставкой работ участников, завершить магистратуру и создать собственный бренд на основе иката, а также показать новую коллекцию на международной неделе моды.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Рахмат! Спасибо за внимание, буду рада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1097280"/>
            <a:ext cx="6766560" cy="2423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8000"/>
              </a:lnSpc>
              <a:buNone/>
              <a:defRPr lang="en-US" sz="84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88000"/>
              </a:lnSpc>
              <a:buNone/>
            </a:pPr>
            <a:endParaRPr lang="en-US" sz="8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1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LE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63550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6355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4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Мохинур Комолова   ·   «Вдохновленные творчеством»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R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0" y="475488"/>
            <a:ext cx="661385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0" y="768096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4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Мохинур Комолова   ·   «Вдохновленные творчеством»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W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4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Мохинур Комолова   ·   «Вдохновленные творчеством»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EFT">
    <p:bg>
      <p:bgPr>
        <a:solidFill>
          <a:srgbClr val="1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64008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50" kern="0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6400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A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Мохинур Комолова   ·   «Вдохновленные творчеством»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9A0B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WIDE">
    <p:bg>
      <p:bgPr>
        <a:solidFill>
          <a:srgbClr val="1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50" kern="0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4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A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Мохинур Комолова   ·   «Вдохновленные творчеством»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9A0B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image" Target="../media/image-1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_photo" descr="Мохинур Комолова у фотографии образа из коллекции «Хумо» на выставк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pic>
        <p:nvPicPr>
          <p:cNvPr id="3" name="Лоскут иката" descr="Лоскут ткани ика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526280"/>
            <a:ext cx="1463040" cy="1759102"/>
          </a:xfrm>
          <a:prstGeom prst="rect">
            <a:avLst/>
          </a:prstGeom>
        </p:spPr>
      </p:pic>
      <p:sp>
        <p:nvSpPr>
          <p:cNvPr id="4" name="Событие"/>
          <p:cNvSpPr txBox="1"/>
          <p:nvPr/>
        </p:nvSpPr>
        <p:spPr>
          <a:xfrm>
            <a:off x="54864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СТУДRUSSIA · СЗФО 2026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02920" y="1097280"/>
            <a:ext cx="6766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4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Мохинур</a:t>
            </a:r>
            <a:endParaRPr lang="en-US" sz="84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84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Комолова</a:t>
            </a:r>
            <a:endParaRPr lang="en-US" sz="8400" dirty="0"/>
          </a:p>
        </p:txBody>
      </p:sp>
      <p:sp>
        <p:nvSpPr>
          <p:cNvPr id="6" name="ФИО"/>
          <p:cNvSpPr txBox="1"/>
          <p:nvPr/>
        </p:nvSpPr>
        <p:spPr>
          <a:xfrm>
            <a:off x="548640" y="35661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50" kern="0" dirty="0">
                <a:solidFill>
                  <a:schemeClr val="bg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Комолова Мохинур Олимбой кизи</a:t>
            </a:r>
            <a:endParaRPr lang="en-US" sz="1500" dirty="0"/>
          </a:p>
        </p:txBody>
      </p:sp>
      <p:sp>
        <p:nvSpPr>
          <p:cNvPr id="7" name="Девиз"/>
          <p:cNvSpPr txBox="1"/>
          <p:nvPr/>
        </p:nvSpPr>
        <p:spPr>
          <a:xfrm>
            <a:off x="548640" y="4023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Код культуры в современном костюме</a:t>
            </a:r>
            <a:endParaRPr lang="en-US" sz="2200" dirty="0"/>
          </a:p>
        </p:txBody>
      </p:sp>
      <p:sp>
        <p:nvSpPr>
          <p:cNvPr id="8" name="Подпись номинации"/>
          <p:cNvSpPr txBox="1"/>
          <p:nvPr/>
        </p:nvSpPr>
        <p:spPr>
          <a:xfrm>
            <a:off x="548640" y="4983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НОМИНАЦИЯ</a:t>
            </a:r>
            <a:endParaRPr lang="en-US" sz="1000" dirty="0"/>
          </a:p>
        </p:txBody>
      </p:sp>
      <p:sp>
        <p:nvSpPr>
          <p:cNvPr id="9" name="Номинация"/>
          <p:cNvSpPr txBox="1"/>
          <p:nvPr/>
        </p:nvSpPr>
        <p:spPr>
          <a:xfrm>
            <a:off x="548640" y="5257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«Вдохновленные творчеством»</a:t>
            </a:r>
            <a:endParaRPr lang="en-US" sz="1300" dirty="0"/>
          </a:p>
        </p:txBody>
      </p:sp>
      <p:sp>
        <p:nvSpPr>
          <p:cNvPr id="10" name="Подпись вуза"/>
          <p:cNvSpPr txBox="1"/>
          <p:nvPr/>
        </p:nvSpPr>
        <p:spPr>
          <a:xfrm>
            <a:off x="3749040" y="4983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ВУЗ</a:t>
            </a:r>
            <a:endParaRPr lang="en-US" sz="1000" dirty="0"/>
          </a:p>
        </p:txBody>
      </p:sp>
      <p:sp>
        <p:nvSpPr>
          <p:cNvPr id="11" name="Вуз"/>
          <p:cNvSpPr txBox="1"/>
          <p:nvPr/>
        </p:nvSpPr>
        <p:spPr>
          <a:xfrm>
            <a:off x="3749040" y="5257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СПбГУПТД, Институт дизайна костюма</a:t>
            </a:r>
            <a:endParaRPr lang="en-US" sz="1300" dirty="0"/>
          </a:p>
        </p:txBody>
      </p:sp>
      <p:sp>
        <p:nvSpPr>
          <p:cNvPr id="12" name="Дата"/>
          <p:cNvSpPr txBox="1"/>
          <p:nvPr/>
        </p:nvSpPr>
        <p:spPr>
          <a:xfrm>
            <a:off x="54864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Санкт-Петербург · 24-25 октября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 СЕБЕ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Ташкент · Петербург · Милан</a:t>
            </a:r>
            <a:endParaRPr lang="en-US" sz="3400" dirty="0"/>
          </a:p>
        </p:txBody>
      </p:sp>
      <p:sp>
        <p:nvSpPr>
          <p:cNvPr id="4" name="Лид"/>
          <p:cNvSpPr txBox="1"/>
          <p:nvPr/>
        </p:nvSpPr>
        <p:spPr>
          <a:xfrm>
            <a:off x="548640" y="15727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Соединяю узбекское наследие и современный крой</a:t>
            </a:r>
            <a:endParaRPr lang="en-US" sz="1700" dirty="0"/>
          </a:p>
        </p:txBody>
      </p:sp>
      <p:sp>
        <p:nvSpPr>
          <p:cNvPr id="5" name="Линия 1"/>
          <p:cNvSpPr/>
          <p:nvPr/>
        </p:nvSpPr>
        <p:spPr>
          <a:xfrm>
            <a:off x="548640" y="2103120"/>
            <a:ext cx="62179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6" name="Поле 1"/>
          <p:cNvSpPr txBox="1"/>
          <p:nvPr/>
        </p:nvSpPr>
        <p:spPr>
          <a:xfrm>
            <a:off x="548640" y="22402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ФИО</a:t>
            </a:r>
            <a:endParaRPr lang="en-US" sz="900" dirty="0"/>
          </a:p>
        </p:txBody>
      </p:sp>
      <p:sp>
        <p:nvSpPr>
          <p:cNvPr id="7" name="Значение 1"/>
          <p:cNvSpPr txBox="1"/>
          <p:nvPr/>
        </p:nvSpPr>
        <p:spPr>
          <a:xfrm>
            <a:off x="2331720" y="22037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Комолова Мохинур Олимбой кизи</a:t>
            </a:r>
            <a:endParaRPr lang="en-US" sz="1400" dirty="0"/>
          </a:p>
        </p:txBody>
      </p:sp>
      <p:sp>
        <p:nvSpPr>
          <p:cNvPr id="8" name="Линия 2"/>
          <p:cNvSpPr/>
          <p:nvPr/>
        </p:nvSpPr>
        <p:spPr>
          <a:xfrm>
            <a:off x="548640" y="2615184"/>
            <a:ext cx="62179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9" name="Поле 2"/>
          <p:cNvSpPr txBox="1"/>
          <p:nvPr/>
        </p:nvSpPr>
        <p:spPr>
          <a:xfrm>
            <a:off x="548640" y="27523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ВУЗ</a:t>
            </a:r>
            <a:endParaRPr lang="en-US" sz="900" dirty="0"/>
          </a:p>
        </p:txBody>
      </p:sp>
      <p:sp>
        <p:nvSpPr>
          <p:cNvPr id="10" name="Значение 2"/>
          <p:cNvSpPr txBox="1"/>
          <p:nvPr/>
        </p:nvSpPr>
        <p:spPr>
          <a:xfrm>
            <a:off x="2331720" y="2715768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СПбГУПТД, Институт дизайна костюма: бакалавриат 2025, сейчас магистратура</a:t>
            </a:r>
            <a:endParaRPr lang="en-US" sz="1400" dirty="0"/>
          </a:p>
        </p:txBody>
      </p:sp>
      <p:sp>
        <p:nvSpPr>
          <p:cNvPr id="11" name="Линия 3"/>
          <p:cNvSpPr/>
          <p:nvPr/>
        </p:nvSpPr>
        <p:spPr>
          <a:xfrm>
            <a:off x="548640" y="3328416"/>
            <a:ext cx="62179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2" name="Поле 3"/>
          <p:cNvSpPr txBox="1"/>
          <p:nvPr/>
        </p:nvSpPr>
        <p:spPr>
          <a:xfrm>
            <a:off x="548640" y="34655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НАПРАВЛЕНИЕ</a:t>
            </a:r>
            <a:endParaRPr lang="en-US" sz="900" dirty="0"/>
          </a:p>
        </p:txBody>
      </p:sp>
      <p:sp>
        <p:nvSpPr>
          <p:cNvPr id="13" name="Значение 3"/>
          <p:cNvSpPr txBox="1"/>
          <p:nvPr/>
        </p:nvSpPr>
        <p:spPr>
          <a:xfrm>
            <a:off x="2331720" y="34290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Авторский костюм: икат, вышивка, перья</a:t>
            </a:r>
            <a:endParaRPr lang="en-US" sz="1400" dirty="0"/>
          </a:p>
        </p:txBody>
      </p:sp>
      <p:sp>
        <p:nvSpPr>
          <p:cNvPr id="14" name="Линия 4"/>
          <p:cNvSpPr/>
          <p:nvPr/>
        </p:nvSpPr>
        <p:spPr>
          <a:xfrm>
            <a:off x="548640" y="3840480"/>
            <a:ext cx="62179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Поле 4"/>
          <p:cNvSpPr txBox="1"/>
          <p:nvPr/>
        </p:nvSpPr>
        <p:spPr>
          <a:xfrm>
            <a:off x="548640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ОБЩЕСТВЕННАЯ РОЛЬ</a:t>
            </a:r>
            <a:endParaRPr lang="en-US" sz="900" dirty="0"/>
          </a:p>
        </p:txBody>
      </p:sp>
      <p:sp>
        <p:nvSpPr>
          <p:cNvPr id="16" name="Значение 4"/>
          <p:cNvSpPr txBox="1"/>
          <p:nvPr/>
        </p:nvSpPr>
        <p:spPr>
          <a:xfrm>
            <a:off x="2331720" y="3941064"/>
            <a:ext cx="4434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Представитель Союза молодёжи Узбекистана в СЗФО</a:t>
            </a:r>
            <a:endParaRPr lang="en-US" sz="1400" dirty="0"/>
          </a:p>
        </p:txBody>
      </p:sp>
      <p:sp>
        <p:nvSpPr>
          <p:cNvPr id="17" name="Цифра 1"/>
          <p:cNvSpPr txBox="1"/>
          <p:nvPr/>
        </p:nvSpPr>
        <p:spPr>
          <a:xfrm>
            <a:off x="548640" y="4846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10+</a:t>
            </a:r>
            <a:endParaRPr lang="en-US" sz="4400" dirty="0"/>
          </a:p>
        </p:txBody>
      </p:sp>
      <p:sp>
        <p:nvSpPr>
          <p:cNvPr id="18" name="Подпись цифры 1"/>
          <p:cNvSpPr txBox="1"/>
          <p:nvPr/>
        </p:nvSpPr>
        <p:spPr>
          <a:xfrm>
            <a:off x="548640" y="55504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конкурсных наград: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Гран-при и первые места</a:t>
            </a:r>
            <a:endParaRPr lang="en-US" sz="1100" dirty="0"/>
          </a:p>
        </p:txBody>
      </p:sp>
      <p:sp>
        <p:nvSpPr>
          <p:cNvPr id="19" name="Цифра 2"/>
          <p:cNvSpPr txBox="1"/>
          <p:nvPr/>
        </p:nvSpPr>
        <p:spPr>
          <a:xfrm>
            <a:off x="2651760" y="4846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4400" dirty="0"/>
          </a:p>
        </p:txBody>
      </p:sp>
      <p:sp>
        <p:nvSpPr>
          <p:cNvPr id="20" name="Подпись цифры 2"/>
          <p:cNvSpPr txBox="1"/>
          <p:nvPr/>
        </p:nvSpPr>
        <p:spPr>
          <a:xfrm>
            <a:off x="2651760" y="55504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недель моды,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включая Китай</a:t>
            </a:r>
            <a:endParaRPr lang="en-US" sz="1100" dirty="0"/>
          </a:p>
        </p:txBody>
      </p:sp>
      <p:sp>
        <p:nvSpPr>
          <p:cNvPr id="21" name="Цифра 3"/>
          <p:cNvSpPr txBox="1"/>
          <p:nvPr/>
        </p:nvSpPr>
        <p:spPr>
          <a:xfrm>
            <a:off x="4754880" y="4846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Подпись цифры 3"/>
          <p:cNvSpPr txBox="1"/>
          <p:nvPr/>
        </p:nvSpPr>
        <p:spPr>
          <a:xfrm>
            <a:off x="4754880" y="55504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музея: Эрмитаж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 Третьяковская галерея</a:t>
            </a:r>
            <a:endParaRPr lang="en-US" sz="1100" dirty="0"/>
          </a:p>
        </p:txBody>
      </p:sp>
      <p:pic>
        <p:nvPicPr>
          <p:cNvPr id="23" name="s2_portrait" descr="Мохинур Комолова в Милане,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502920"/>
            <a:ext cx="2834640" cy="5669280"/>
          </a:xfrm>
          <a:prstGeom prst="rect">
            <a:avLst/>
          </a:prstGeom>
        </p:spPr>
      </p:pic>
      <p:pic>
        <p:nvPicPr>
          <p:cNvPr id="24" name="s2_look1" descr="Образ из узбекского иката на подиум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502920"/>
            <a:ext cx="1557223" cy="2752344"/>
          </a:xfrm>
          <a:prstGeom prst="rect">
            <a:avLst/>
          </a:prstGeom>
        </p:spPr>
      </p:pic>
      <p:pic>
        <p:nvPicPr>
          <p:cNvPr id="25" name="s2_look2" descr="Образ с золотой накидкой из перьев на показе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2" y="3419856"/>
            <a:ext cx="1557223" cy="27523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allion" descr="Золотой медальон-шамса, мотив восточной миниатюр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94360"/>
            <a:ext cx="4739335" cy="56692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475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ДОСТИЖЕНИЕ 01 · КУЛЬТУРНЫЙ ПРОЕКТ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76809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«Код Бехзода»</a:t>
            </a:r>
            <a:endParaRPr lang="en-US" sz="3400" dirty="0"/>
          </a:p>
        </p:txBody>
      </p:sp>
      <p:sp>
        <p:nvSpPr>
          <p:cNvPr id="5" name="Подзаголовок"/>
          <p:cNvSpPr txBox="1"/>
          <p:nvPr/>
        </p:nvSpPr>
        <p:spPr>
          <a:xfrm>
            <a:off x="548640" y="15361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Всероссийский творческий конкурс</a:t>
            </a:r>
            <a:endParaRPr lang="en-US" sz="1800" dirty="0"/>
          </a:p>
        </p:txBody>
      </p:sp>
      <p:sp>
        <p:nvSpPr>
          <p:cNvPr id="6" name="Описание"/>
          <p:cNvSpPr txBox="1"/>
          <p:nvPr/>
        </p:nvSpPr>
        <p:spPr>
          <a:xfrm>
            <a:off x="548640" y="193852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Вдохновлён наследием Камолиддина Бехзода, великого мастера восточной миниатюры</a:t>
            </a:r>
            <a:endParaRPr lang="en-US" sz="1600" dirty="0"/>
          </a:p>
        </p:txBody>
      </p:sp>
      <p:sp>
        <p:nvSpPr>
          <p:cNvPr id="7" name="Шов"/>
          <p:cNvSpPr/>
          <p:nvPr/>
        </p:nvSpPr>
        <p:spPr>
          <a:xfrm>
            <a:off x="548640" y="2944368"/>
            <a:ext cx="626364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8" name="Узел 1"/>
          <p:cNvSpPr/>
          <p:nvPr/>
        </p:nvSpPr>
        <p:spPr>
          <a:xfrm>
            <a:off x="548640" y="2880360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Номер 1"/>
          <p:cNvSpPr txBox="1"/>
          <p:nvPr/>
        </p:nvSpPr>
        <p:spPr>
          <a:xfrm>
            <a:off x="548640" y="3127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Этап 1"/>
          <p:cNvSpPr txBox="1"/>
          <p:nvPr/>
        </p:nvSpPr>
        <p:spPr>
          <a:xfrm>
            <a:off x="548640" y="3611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СДЕЛАЛА</a:t>
            </a:r>
            <a:endParaRPr lang="en-US" sz="1000" dirty="0"/>
          </a:p>
        </p:txBody>
      </p:sp>
      <p:sp>
        <p:nvSpPr>
          <p:cNvPr id="11" name="Текст 1"/>
          <p:cNvSpPr txBox="1"/>
          <p:nvPr/>
        </p:nvSpPr>
        <p:spPr>
          <a:xfrm>
            <a:off x="548640" y="390448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Придумала и запустила конкурс всероссийского масштаба</a:t>
            </a:r>
            <a:endParaRPr lang="en-US" sz="1400" dirty="0"/>
          </a:p>
        </p:txBody>
      </p:sp>
      <p:sp>
        <p:nvSpPr>
          <p:cNvPr id="12" name="Узел 2"/>
          <p:cNvSpPr/>
          <p:nvPr/>
        </p:nvSpPr>
        <p:spPr>
          <a:xfrm>
            <a:off x="2697480" y="2880360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Номер 2"/>
          <p:cNvSpPr txBox="1"/>
          <p:nvPr/>
        </p:nvSpPr>
        <p:spPr>
          <a:xfrm>
            <a:off x="2697480" y="3127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Этап 2"/>
          <p:cNvSpPr txBox="1"/>
          <p:nvPr/>
        </p:nvSpPr>
        <p:spPr>
          <a:xfrm>
            <a:off x="2697480" y="3611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МОЯ РОЛЬ</a:t>
            </a:r>
            <a:endParaRPr lang="en-US" sz="1000" dirty="0"/>
          </a:p>
        </p:txBody>
      </p:sp>
      <p:sp>
        <p:nvSpPr>
          <p:cNvPr id="15" name="Текст 2"/>
          <p:cNvSpPr txBox="1"/>
          <p:nvPr/>
        </p:nvSpPr>
        <p:spPr>
          <a:xfrm>
            <a:off x="2697480" y="390448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 идеи и организатор: концепция, партнёры, запуск</a:t>
            </a:r>
            <a:endParaRPr lang="en-US" sz="1400" dirty="0"/>
          </a:p>
        </p:txBody>
      </p:sp>
      <p:sp>
        <p:nvSpPr>
          <p:cNvPr id="16" name="Узел 3"/>
          <p:cNvSpPr/>
          <p:nvPr/>
        </p:nvSpPr>
        <p:spPr>
          <a:xfrm>
            <a:off x="4846320" y="2880360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Номер 3"/>
          <p:cNvSpPr txBox="1"/>
          <p:nvPr/>
        </p:nvSpPr>
        <p:spPr>
          <a:xfrm>
            <a:off x="4846320" y="31272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Этап 3"/>
          <p:cNvSpPr txBox="1"/>
          <p:nvPr/>
        </p:nvSpPr>
        <p:spPr>
          <a:xfrm>
            <a:off x="4846320" y="3611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00" dirty="0"/>
          </a:p>
        </p:txBody>
      </p:sp>
      <p:sp>
        <p:nvSpPr>
          <p:cNvPr id="19" name="Текст 3"/>
          <p:cNvSpPr txBox="1"/>
          <p:nvPr/>
        </p:nvSpPr>
        <p:spPr>
          <a:xfrm>
            <a:off x="4846320" y="3904488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Новая площадка культурного диалога России и Узбекистана</a:t>
            </a:r>
            <a:endParaRPr lang="en-US" sz="1400" dirty="0"/>
          </a:p>
        </p:txBody>
      </p:sp>
      <p:sp>
        <p:nvSpPr>
          <p:cNvPr id="20" name="Партнёры"/>
          <p:cNvSpPr txBox="1"/>
          <p:nvPr/>
        </p:nvSpPr>
        <p:spPr>
          <a:xfrm>
            <a:off x="54864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ПАРТНЁРЫ КОНКУРСА</a:t>
            </a:r>
            <a:endParaRPr lang="en-US" sz="1000" dirty="0"/>
          </a:p>
        </p:txBody>
      </p:sp>
      <p:sp>
        <p:nvSpPr>
          <p:cNvPr id="21" name="Маркер партнёра 1"/>
          <p:cNvSpPr/>
          <p:nvPr/>
        </p:nvSpPr>
        <p:spPr>
          <a:xfrm>
            <a:off x="566928" y="5468112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Партнёр 1"/>
          <p:cNvSpPr txBox="1"/>
          <p:nvPr/>
        </p:nvSpPr>
        <p:spPr>
          <a:xfrm>
            <a:off x="822960" y="53949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Генеральное консульство Республики Узбекистан в Санкт-Петербурге</a:t>
            </a:r>
            <a:endParaRPr lang="en-US" sz="1250" dirty="0"/>
          </a:p>
        </p:txBody>
      </p:sp>
      <p:sp>
        <p:nvSpPr>
          <p:cNvPr id="23" name="Маркер партнёра 2"/>
          <p:cNvSpPr/>
          <p:nvPr/>
        </p:nvSpPr>
        <p:spPr>
          <a:xfrm>
            <a:off x="566928" y="5815584"/>
            <a:ext cx="91440" cy="91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Партнёр 2"/>
          <p:cNvSpPr txBox="1"/>
          <p:nvPr/>
        </p:nvSpPr>
        <p:spPr>
          <a:xfrm>
            <a:off x="822960" y="57424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Академия художеств Республики Узбекистан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9A0B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ДОСТИЖЕНИЕ 02 · МЕЖДУНАРОДНОЕ ОБУЧЕНИЕ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Стажировка в NABA, Милан</a:t>
            </a:r>
            <a:endParaRPr lang="en-US" sz="3400" dirty="0"/>
          </a:p>
        </p:txBody>
      </p:sp>
      <p:sp>
        <p:nvSpPr>
          <p:cNvPr id="4" name="Описание"/>
          <p:cNvSpPr txBox="1"/>
          <p:nvPr/>
        </p:nvSpPr>
        <p:spPr>
          <a:xfrm>
            <a:off x="548640" y="15544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Nuova Accademia di Belle Arti: одна из крупнейших академий искусства и дизайна Италии</a:t>
            </a:r>
            <a:endParaRPr lang="en-US" sz="1600" dirty="0"/>
          </a:p>
        </p:txBody>
      </p:sp>
      <p:sp>
        <p:nvSpPr>
          <p:cNvPr id="5" name="Шов"/>
          <p:cNvSpPr/>
          <p:nvPr/>
        </p:nvSpPr>
        <p:spPr>
          <a:xfrm>
            <a:off x="612648" y="2606040"/>
            <a:ext cx="0" cy="219456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6" name="Узел 1"/>
          <p:cNvSpPr/>
          <p:nvPr/>
        </p:nvSpPr>
        <p:spPr>
          <a:xfrm>
            <a:off x="539496" y="253288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Этап 1"/>
          <p:cNvSpPr txBox="1"/>
          <p:nvPr/>
        </p:nvSpPr>
        <p:spPr>
          <a:xfrm>
            <a:off x="960120" y="2505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СДЕЛАЛА</a:t>
            </a:r>
            <a:endParaRPr lang="en-US" sz="1000" dirty="0"/>
          </a:p>
        </p:txBody>
      </p:sp>
      <p:sp>
        <p:nvSpPr>
          <p:cNvPr id="8" name="Текст 1"/>
          <p:cNvSpPr txBox="1"/>
          <p:nvPr/>
        </p:nvSpPr>
        <p:spPr>
          <a:xfrm>
            <a:off x="960120" y="2788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Прошла летнюю программу Fashion Design 2 в Милане</a:t>
            </a:r>
            <a:endParaRPr lang="en-US" sz="1500" dirty="0"/>
          </a:p>
        </p:txBody>
      </p:sp>
      <p:sp>
        <p:nvSpPr>
          <p:cNvPr id="9" name="Узел 2"/>
          <p:cNvSpPr/>
          <p:nvPr/>
        </p:nvSpPr>
        <p:spPr>
          <a:xfrm>
            <a:off x="539496" y="363016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Этап 2"/>
          <p:cNvSpPr txBox="1"/>
          <p:nvPr/>
        </p:nvSpPr>
        <p:spPr>
          <a:xfrm>
            <a:off x="960120" y="36027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МОЯ РОЛЬ</a:t>
            </a:r>
            <a:endParaRPr lang="en-US" sz="1000" dirty="0"/>
          </a:p>
        </p:txBody>
      </p:sp>
      <p:sp>
        <p:nvSpPr>
          <p:cNvPr id="11" name="Текст 2"/>
          <p:cNvSpPr txBox="1"/>
          <p:nvPr/>
        </p:nvSpPr>
        <p:spPr>
          <a:xfrm>
            <a:off x="960120" y="3886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Получила квоту на обучение и прошла программу полностью</a:t>
            </a:r>
            <a:endParaRPr lang="en-US" sz="1500" dirty="0"/>
          </a:p>
        </p:txBody>
      </p:sp>
      <p:sp>
        <p:nvSpPr>
          <p:cNvPr id="12" name="Узел 3"/>
          <p:cNvSpPr/>
          <p:nvPr/>
        </p:nvSpPr>
        <p:spPr>
          <a:xfrm>
            <a:off x="539496" y="4727448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Этап 3"/>
          <p:cNvSpPr txBox="1"/>
          <p:nvPr/>
        </p:nvSpPr>
        <p:spPr>
          <a:xfrm>
            <a:off x="960120" y="4700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1000" dirty="0"/>
          </a:p>
        </p:txBody>
      </p:sp>
      <p:sp>
        <p:nvSpPr>
          <p:cNvPr id="14" name="Текст 3"/>
          <p:cNvSpPr txBox="1"/>
          <p:nvPr/>
        </p:nvSpPr>
        <p:spPr>
          <a:xfrm>
            <a:off x="960120" y="4983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Сертификат NABA и европейский взгляд на создание коллекции</a:t>
            </a:r>
            <a:endParaRPr lang="en-US" sz="1500" dirty="0"/>
          </a:p>
        </p:txBody>
      </p:sp>
      <p:pic>
        <p:nvPicPr>
          <p:cNvPr id="15" name="s4_cert" descr="Сертификат NABA: Summer Programme Fashion Design 2, 15-25 июля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02920"/>
            <a:ext cx="2221992" cy="1564538"/>
          </a:xfrm>
          <a:prstGeom prst="rect">
            <a:avLst/>
          </a:prstGeom>
        </p:spPr>
      </p:pic>
      <p:sp>
        <p:nvSpPr>
          <p:cNvPr id="16" name="Цифра"/>
          <p:cNvSpPr txBox="1"/>
          <p:nvPr/>
        </p:nvSpPr>
        <p:spPr>
          <a:xfrm>
            <a:off x="6720840" y="22402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45</a:t>
            </a:r>
            <a:endParaRPr lang="en-US" sz="6600" dirty="0"/>
          </a:p>
        </p:txBody>
      </p:sp>
      <p:sp>
        <p:nvSpPr>
          <p:cNvPr id="17" name="Подпись цифры"/>
          <p:cNvSpPr txBox="1"/>
          <p:nvPr/>
        </p:nvSpPr>
        <p:spPr>
          <a:xfrm>
            <a:off x="6720840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часов занятий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 fashion-дизайну</a:t>
            </a:r>
            <a:endParaRPr lang="en-US" sz="1300" dirty="0"/>
          </a:p>
        </p:txBody>
      </p:sp>
      <p:sp>
        <p:nvSpPr>
          <p:cNvPr id="18" name="Даты"/>
          <p:cNvSpPr txBox="1"/>
          <p:nvPr/>
        </p:nvSpPr>
        <p:spPr>
          <a:xfrm>
            <a:off x="6720840" y="4023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15-25 ИЮЛЯ 2025</a:t>
            </a:r>
            <a:endParaRPr lang="en-US" sz="1000" dirty="0"/>
          </a:p>
        </p:txBody>
      </p:sp>
      <p:sp>
        <p:nvSpPr>
          <p:cNvPr id="19" name="Программа"/>
          <p:cNvSpPr txBox="1"/>
          <p:nvPr/>
        </p:nvSpPr>
        <p:spPr>
          <a:xfrm>
            <a:off x="6720840" y="4343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Summer Programme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Fashion Design 2</a:t>
            </a:r>
            <a:endParaRPr lang="en-US" sz="1400" dirty="0"/>
          </a:p>
        </p:txBody>
      </p:sp>
      <p:pic>
        <p:nvPicPr>
          <p:cNvPr id="20" name="s4_dress" descr="Образ в белом на фоне кампуса, Милан, 20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2" y="502920"/>
            <a:ext cx="2517343" cy="5669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_card" descr="Удостоверение члена Санкт-Петербургского союза дизайнер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023360" cy="56692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029200" y="475488"/>
            <a:ext cx="6613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ДОСТИЖЕНИЕ 03 · ПРОФЕССИОНАЛЬНОЕ ПРИЗНАНИЕ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029200" y="768096"/>
            <a:ext cx="6613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Член Санкт-Петербургского</a:t>
            </a:r>
            <a:endParaRPr lang="en-US" sz="3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союза дизайнеров</a:t>
            </a:r>
            <a:endParaRPr lang="en-US" sz="3400" dirty="0"/>
          </a:p>
        </p:txBody>
      </p:sp>
      <p:sp>
        <p:nvSpPr>
          <p:cNvPr id="5" name="Карточка 1"/>
          <p:cNvSpPr/>
          <p:nvPr/>
        </p:nvSpPr>
        <p:spPr>
          <a:xfrm>
            <a:off x="5029200" y="2286000"/>
            <a:ext cx="2075688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Номер 1"/>
          <p:cNvSpPr txBox="1"/>
          <p:nvPr/>
        </p:nvSpPr>
        <p:spPr>
          <a:xfrm>
            <a:off x="5230368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Этап 1"/>
          <p:cNvSpPr txBox="1"/>
          <p:nvPr/>
        </p:nvSpPr>
        <p:spPr>
          <a:xfrm>
            <a:off x="5230368" y="2926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СДЕЛАЛА</a:t>
            </a:r>
            <a:endParaRPr lang="en-US" sz="950" dirty="0"/>
          </a:p>
        </p:txBody>
      </p:sp>
      <p:sp>
        <p:nvSpPr>
          <p:cNvPr id="8" name="Текст 1"/>
          <p:cNvSpPr txBox="1"/>
          <p:nvPr/>
        </p:nvSpPr>
        <p:spPr>
          <a:xfrm>
            <a:off x="5230368" y="32004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Представила союзу портфолио авторских коллекций</a:t>
            </a:r>
            <a:endParaRPr lang="en-US" sz="1400" dirty="0"/>
          </a:p>
        </p:txBody>
      </p:sp>
      <p:sp>
        <p:nvSpPr>
          <p:cNvPr id="9" name="Карточка 2"/>
          <p:cNvSpPr/>
          <p:nvPr/>
        </p:nvSpPr>
        <p:spPr>
          <a:xfrm>
            <a:off x="7299655" y="2286000"/>
            <a:ext cx="2075688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Номер 2"/>
          <p:cNvSpPr txBox="1"/>
          <p:nvPr/>
        </p:nvSpPr>
        <p:spPr>
          <a:xfrm>
            <a:off x="7500823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Этап 2"/>
          <p:cNvSpPr txBox="1"/>
          <p:nvPr/>
        </p:nvSpPr>
        <p:spPr>
          <a:xfrm>
            <a:off x="7500823" y="2926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МОЯ РОЛЬ</a:t>
            </a:r>
            <a:endParaRPr lang="en-US" sz="950" dirty="0"/>
          </a:p>
        </p:txBody>
      </p:sp>
      <p:sp>
        <p:nvSpPr>
          <p:cNvPr id="12" name="Текст 2"/>
          <p:cNvSpPr txBox="1"/>
          <p:nvPr/>
        </p:nvSpPr>
        <p:spPr>
          <a:xfrm>
            <a:off x="7500823" y="32004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Автор коллекций на основе узбекского иката</a:t>
            </a:r>
            <a:endParaRPr lang="en-US" sz="1400" dirty="0"/>
          </a:p>
        </p:txBody>
      </p:sp>
      <p:sp>
        <p:nvSpPr>
          <p:cNvPr id="13" name="Карточка 3"/>
          <p:cNvSpPr/>
          <p:nvPr/>
        </p:nvSpPr>
        <p:spPr>
          <a:xfrm>
            <a:off x="9570110" y="2286000"/>
            <a:ext cx="2075688" cy="2240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Номер 3"/>
          <p:cNvSpPr txBox="1"/>
          <p:nvPr/>
        </p:nvSpPr>
        <p:spPr>
          <a:xfrm>
            <a:off x="9771278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Этап 3"/>
          <p:cNvSpPr txBox="1"/>
          <p:nvPr/>
        </p:nvSpPr>
        <p:spPr>
          <a:xfrm>
            <a:off x="9771278" y="2926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en-US" sz="950" dirty="0"/>
          </a:p>
        </p:txBody>
      </p:sp>
      <p:sp>
        <p:nvSpPr>
          <p:cNvPr id="16" name="Текст 3"/>
          <p:cNvSpPr txBox="1"/>
          <p:nvPr/>
        </p:nvSpPr>
        <p:spPr>
          <a:xfrm>
            <a:off x="9771278" y="320040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Принята в члены союза, получила удостоверение</a:t>
            </a:r>
            <a:endParaRPr lang="en-US" sz="1400" dirty="0"/>
          </a:p>
        </p:txBody>
      </p:sp>
      <p:sp>
        <p:nvSpPr>
          <p:cNvPr id="17" name="Подпись итога"/>
          <p:cNvSpPr txBox="1"/>
          <p:nvPr/>
        </p:nvSpPr>
        <p:spPr>
          <a:xfrm>
            <a:off x="502920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ЭТО ДАЁТ</a:t>
            </a:r>
            <a:endParaRPr lang="en-US" sz="1000" dirty="0"/>
          </a:p>
        </p:txBody>
      </p:sp>
      <p:sp>
        <p:nvSpPr>
          <p:cNvPr id="18" name="Итог"/>
          <p:cNvSpPr txBox="1"/>
          <p:nvPr/>
        </p:nvSpPr>
        <p:spPr>
          <a:xfrm>
            <a:off x="5029200" y="519379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Профессиональная среда Петербурга: выставки, проекты и коллеги по цеху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ПОДТВЕРЖДЕНИЯ · КОЛЛЕКЦИИ И ПОКАЗЫ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От подиума до музейных залов</a:t>
            </a:r>
            <a:endParaRPr lang="en-US" sz="3400" dirty="0"/>
          </a:p>
        </p:txBody>
      </p:sp>
      <p:pic>
        <p:nvPicPr>
          <p:cNvPr id="4" name="s6_humo" descr="Показ коллекции «Хумо» Мохинур Комоловой на сцен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172200" cy="4109314"/>
          </a:xfrm>
          <a:prstGeom prst="rect">
            <a:avLst/>
          </a:prstGeom>
        </p:spPr>
      </p:pic>
      <p:sp>
        <p:nvSpPr>
          <p:cNvPr id="5" name="Подпись фото"/>
          <p:cNvSpPr txBox="1"/>
          <p:nvPr/>
        </p:nvSpPr>
        <p:spPr>
          <a:xfrm>
            <a:off x="548640" y="594360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Коллекция «Хумо», 2025 · икат, ручная вышивка стеклярусом, перья</a:t>
            </a:r>
            <a:endParaRPr lang="en-US" sz="1050" dirty="0"/>
          </a:p>
        </p:txBody>
      </p:sp>
      <p:sp>
        <p:nvSpPr>
          <p:cNvPr id="6" name="Шов"/>
          <p:cNvSpPr/>
          <p:nvPr/>
        </p:nvSpPr>
        <p:spPr>
          <a:xfrm>
            <a:off x="7287768" y="1947672"/>
            <a:ext cx="0" cy="340614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7" name="Узел 1"/>
          <p:cNvSpPr/>
          <p:nvPr/>
        </p:nvSpPr>
        <p:spPr>
          <a:xfrm>
            <a:off x="7223760" y="1883664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Площадка 1"/>
          <p:cNvSpPr txBox="1"/>
          <p:nvPr/>
        </p:nvSpPr>
        <p:spPr>
          <a:xfrm>
            <a:off x="7589520" y="18288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Государственный Эрмитаж</a:t>
            </a:r>
            <a:endParaRPr lang="en-US" sz="1300" dirty="0"/>
          </a:p>
        </p:txBody>
      </p:sp>
      <p:sp>
        <p:nvSpPr>
          <p:cNvPr id="9" name="Детали 1"/>
          <p:cNvSpPr txBox="1"/>
          <p:nvPr/>
        </p:nvSpPr>
        <p:spPr>
          <a:xfrm>
            <a:off x="7589520" y="2103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Главный штаб, форум «Диалог культур»</a:t>
            </a:r>
            <a:endParaRPr lang="en-US" sz="1100" dirty="0"/>
          </a:p>
        </p:txBody>
      </p:sp>
      <p:sp>
        <p:nvSpPr>
          <p:cNvPr id="10" name="Узел 2"/>
          <p:cNvSpPr/>
          <p:nvPr/>
        </p:nvSpPr>
        <p:spPr>
          <a:xfrm>
            <a:off x="7223760" y="2564892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Площадка 2"/>
          <p:cNvSpPr txBox="1"/>
          <p:nvPr/>
        </p:nvSpPr>
        <p:spPr>
          <a:xfrm>
            <a:off x="7589520" y="25100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Государственная Третьяковская галерея</a:t>
            </a:r>
            <a:endParaRPr lang="en-US" sz="1300" dirty="0"/>
          </a:p>
        </p:txBody>
      </p:sp>
      <p:sp>
        <p:nvSpPr>
          <p:cNvPr id="12" name="Детали 2"/>
          <p:cNvSpPr txBox="1"/>
          <p:nvPr/>
        </p:nvSpPr>
        <p:spPr>
          <a:xfrm>
            <a:off x="7589520" y="27843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экспонирование авторских моделей</a:t>
            </a:r>
            <a:endParaRPr lang="en-US" sz="1100" dirty="0"/>
          </a:p>
        </p:txBody>
      </p:sp>
      <p:sp>
        <p:nvSpPr>
          <p:cNvPr id="13" name="Узел 3"/>
          <p:cNvSpPr/>
          <p:nvPr/>
        </p:nvSpPr>
        <p:spPr>
          <a:xfrm>
            <a:off x="7223760" y="3246120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Площадка 3"/>
          <p:cNvSpPr txBox="1"/>
          <p:nvPr/>
        </p:nvSpPr>
        <p:spPr>
          <a:xfrm>
            <a:off x="7589520" y="31912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Dalian Fashion Week, Китай</a:t>
            </a:r>
            <a:endParaRPr lang="en-US" sz="1300" dirty="0"/>
          </a:p>
        </p:txBody>
      </p:sp>
      <p:sp>
        <p:nvSpPr>
          <p:cNvPr id="15" name="Детали 3"/>
          <p:cNvSpPr txBox="1"/>
          <p:nvPr/>
        </p:nvSpPr>
        <p:spPr>
          <a:xfrm>
            <a:off x="7589520" y="346557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2025, от имени СПбГУПТД</a:t>
            </a:r>
            <a:endParaRPr lang="en-US" sz="1100" dirty="0"/>
          </a:p>
        </p:txBody>
      </p:sp>
      <p:sp>
        <p:nvSpPr>
          <p:cNvPr id="16" name="Узел 4"/>
          <p:cNvSpPr/>
          <p:nvPr/>
        </p:nvSpPr>
        <p:spPr>
          <a:xfrm>
            <a:off x="7223760" y="3927348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Площадка 4"/>
          <p:cNvSpPr txBox="1"/>
          <p:nvPr/>
        </p:nvSpPr>
        <p:spPr>
          <a:xfrm>
            <a:off x="7589520" y="38724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MODAM Fashion Weekend</a:t>
            </a:r>
            <a:endParaRPr lang="en-US" sz="1300" dirty="0"/>
          </a:p>
        </p:txBody>
      </p:sp>
      <p:sp>
        <p:nvSpPr>
          <p:cNvPr id="18" name="Детали 4"/>
          <p:cNvSpPr txBox="1"/>
          <p:nvPr/>
        </p:nvSpPr>
        <p:spPr>
          <a:xfrm>
            <a:off x="7589520" y="41468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Санкт-Петербург, 2026 · «Хумо»</a:t>
            </a:r>
            <a:endParaRPr lang="en-US" sz="1100" dirty="0"/>
          </a:p>
        </p:txBody>
      </p:sp>
      <p:sp>
        <p:nvSpPr>
          <p:cNvPr id="19" name="Узел 5"/>
          <p:cNvSpPr/>
          <p:nvPr/>
        </p:nvSpPr>
        <p:spPr>
          <a:xfrm>
            <a:off x="7223760" y="4608576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Площадка 5"/>
          <p:cNvSpPr txBox="1"/>
          <p:nvPr/>
        </p:nvSpPr>
        <p:spPr>
          <a:xfrm>
            <a:off x="7589520" y="4553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«От ремесла к подиуму», Рязань</a:t>
            </a:r>
            <a:endParaRPr lang="en-US" sz="1300" dirty="0"/>
          </a:p>
        </p:txBody>
      </p:sp>
      <p:sp>
        <p:nvSpPr>
          <p:cNvPr id="21" name="Детали 5"/>
          <p:cNvSpPr txBox="1"/>
          <p:nvPr/>
        </p:nvSpPr>
        <p:spPr>
          <a:xfrm>
            <a:off x="7589520" y="4828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международный фестиваль, 2026 · «Хумо»</a:t>
            </a:r>
            <a:endParaRPr lang="en-US" sz="1100" dirty="0"/>
          </a:p>
        </p:txBody>
      </p:sp>
      <p:sp>
        <p:nvSpPr>
          <p:cNvPr id="22" name="Узел 6"/>
          <p:cNvSpPr/>
          <p:nvPr/>
        </p:nvSpPr>
        <p:spPr>
          <a:xfrm>
            <a:off x="7223760" y="5289804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Площадка 6"/>
          <p:cNvSpPr txBox="1"/>
          <p:nvPr/>
        </p:nvSpPr>
        <p:spPr>
          <a:xfrm>
            <a:off x="7589520" y="52349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Volga · Don · Estet Fashion Week</a:t>
            </a:r>
            <a:endParaRPr lang="en-US" sz="1300" dirty="0"/>
          </a:p>
        </p:txBody>
      </p:sp>
      <p:sp>
        <p:nvSpPr>
          <p:cNvPr id="24" name="Детали 6"/>
          <p:cNvSpPr txBox="1"/>
          <p:nvPr/>
        </p:nvSpPr>
        <p:spPr>
          <a:xfrm>
            <a:off x="7589520" y="55092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 авторских коллекций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A9A0B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ПОДТВЕРЖДЕНИЯ · НАГРАДЫ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Более 10 конкурсных наград</a:t>
            </a:r>
            <a:endParaRPr lang="en-US" sz="3400" dirty="0"/>
          </a:p>
        </p:txBody>
      </p:sp>
      <p:pic>
        <p:nvPicPr>
          <p:cNvPr id="4" name="s7_diploma" descr="Диплом победителя конкурса «Студент года 2025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611880" cy="2578608"/>
          </a:xfrm>
          <a:prstGeom prst="rect">
            <a:avLst/>
          </a:prstGeom>
        </p:spPr>
      </p:pic>
      <p:pic>
        <p:nvPicPr>
          <p:cNvPr id="5" name="s7_stage" descr="Награждение на церемонии «Студент года 2025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1719072" cy="2578608"/>
          </a:xfrm>
          <a:prstGeom prst="rect">
            <a:avLst/>
          </a:prstGeom>
        </p:spPr>
      </p:pic>
      <p:sp>
        <p:nvSpPr>
          <p:cNvPr id="6" name="Главная награда"/>
          <p:cNvSpPr txBox="1"/>
          <p:nvPr/>
        </p:nvSpPr>
        <p:spPr>
          <a:xfrm>
            <a:off x="548640" y="45537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«Студент года 2025»</a:t>
            </a:r>
            <a:endParaRPr lang="en-US" sz="2500" dirty="0"/>
          </a:p>
        </p:txBody>
      </p:sp>
      <p:sp>
        <p:nvSpPr>
          <p:cNvPr id="7" name="Номинация"/>
          <p:cNvSpPr txBox="1"/>
          <p:nvPr/>
        </p:nvSpPr>
        <p:spPr>
          <a:xfrm>
            <a:off x="54864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Победитель в номинации «Лучший в художественном творчестве»</a:t>
            </a:r>
            <a:endParaRPr lang="en-US" sz="1400" dirty="0"/>
          </a:p>
        </p:txBody>
      </p:sp>
      <p:sp>
        <p:nvSpPr>
          <p:cNvPr id="8" name="Организатор"/>
          <p:cNvSpPr txBox="1"/>
          <p:nvPr/>
        </p:nvSpPr>
        <p:spPr>
          <a:xfrm>
            <a:off x="54864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Комитет по науке и высшей школе Правительства Санкт-Петербурга</a:t>
            </a:r>
            <a:endParaRPr lang="en-US" sz="1000" dirty="0"/>
          </a:p>
        </p:txBody>
      </p:sp>
      <p:sp>
        <p:nvSpPr>
          <p:cNvPr id="9" name="Награда 1"/>
          <p:cNvSpPr/>
          <p:nvPr/>
        </p:nvSpPr>
        <p:spPr>
          <a:xfrm>
            <a:off x="6492240" y="1783080"/>
            <a:ext cx="248716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Место 1"/>
          <p:cNvSpPr txBox="1"/>
          <p:nvPr/>
        </p:nvSpPr>
        <p:spPr>
          <a:xfrm>
            <a:off x="6656832" y="18928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Гран-при</a:t>
            </a:r>
            <a:endParaRPr lang="en-US" sz="2100" dirty="0"/>
          </a:p>
        </p:txBody>
      </p:sp>
      <p:sp>
        <p:nvSpPr>
          <p:cNvPr id="11" name="Конкурс 1"/>
          <p:cNvSpPr txBox="1"/>
          <p:nvPr/>
        </p:nvSpPr>
        <p:spPr>
          <a:xfrm>
            <a:off x="6656832" y="2295144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«Образы творчества»</a:t>
            </a:r>
            <a:endParaRPr lang="en-US" sz="11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выставка-конкурс, 2025</a:t>
            </a:r>
            <a:endParaRPr lang="en-US" sz="1150" dirty="0"/>
          </a:p>
        </p:txBody>
      </p:sp>
      <p:sp>
        <p:nvSpPr>
          <p:cNvPr id="12" name="Награда 2"/>
          <p:cNvSpPr/>
          <p:nvPr/>
        </p:nvSpPr>
        <p:spPr>
          <a:xfrm>
            <a:off x="9155887" y="1783080"/>
            <a:ext cx="248716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Место 2"/>
          <p:cNvSpPr txBox="1"/>
          <p:nvPr/>
        </p:nvSpPr>
        <p:spPr>
          <a:xfrm>
            <a:off x="9320479" y="18928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 место</a:t>
            </a:r>
            <a:endParaRPr lang="en-US" sz="2100" dirty="0"/>
          </a:p>
        </p:txBody>
      </p:sp>
      <p:sp>
        <p:nvSpPr>
          <p:cNvPr id="14" name="Конкурс 2"/>
          <p:cNvSpPr txBox="1"/>
          <p:nvPr/>
        </p:nvSpPr>
        <p:spPr>
          <a:xfrm>
            <a:off x="9320479" y="2295144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«Синяя лента», 2025</a:t>
            </a:r>
            <a:endParaRPr lang="en-US" sz="11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женская форма машиниста метро Петербурга</a:t>
            </a:r>
            <a:endParaRPr lang="en-US" sz="1150" dirty="0"/>
          </a:p>
        </p:txBody>
      </p:sp>
      <p:sp>
        <p:nvSpPr>
          <p:cNvPr id="15" name="Награда 3"/>
          <p:cNvSpPr/>
          <p:nvPr/>
        </p:nvSpPr>
        <p:spPr>
          <a:xfrm>
            <a:off x="6492240" y="3246120"/>
            <a:ext cx="248716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Место 3"/>
          <p:cNvSpPr txBox="1"/>
          <p:nvPr/>
        </p:nvSpPr>
        <p:spPr>
          <a:xfrm>
            <a:off x="6656832" y="33558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Победитель</a:t>
            </a:r>
            <a:endParaRPr lang="en-US" sz="2100" dirty="0"/>
          </a:p>
        </p:txBody>
      </p:sp>
      <p:sp>
        <p:nvSpPr>
          <p:cNvPr id="17" name="Конкурс 3"/>
          <p:cNvSpPr txBox="1"/>
          <p:nvPr/>
        </p:nvSpPr>
        <p:spPr>
          <a:xfrm>
            <a:off x="6656832" y="3758184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«Лучший иностранный студент СПбГУПТД»</a:t>
            </a:r>
            <a:endParaRPr lang="en-US" sz="11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номинация «Лучший в творчестве», 2025</a:t>
            </a:r>
            <a:endParaRPr lang="en-US" sz="1150" dirty="0"/>
          </a:p>
        </p:txBody>
      </p:sp>
      <p:sp>
        <p:nvSpPr>
          <p:cNvPr id="18" name="Награда 4"/>
          <p:cNvSpPr/>
          <p:nvPr/>
        </p:nvSpPr>
        <p:spPr>
          <a:xfrm>
            <a:off x="9155887" y="3246120"/>
            <a:ext cx="248716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Место 4"/>
          <p:cNvSpPr txBox="1"/>
          <p:nvPr/>
        </p:nvSpPr>
        <p:spPr>
          <a:xfrm>
            <a:off x="9320479" y="33558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 и 3 место</a:t>
            </a:r>
            <a:endParaRPr lang="en-US" sz="2100" dirty="0"/>
          </a:p>
        </p:txBody>
      </p:sp>
      <p:sp>
        <p:nvSpPr>
          <p:cNvPr id="20" name="Конкурс 4"/>
          <p:cNvSpPr txBox="1"/>
          <p:nvPr/>
        </p:nvSpPr>
        <p:spPr>
          <a:xfrm>
            <a:off x="9320479" y="3758184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«Пушкинский бал»</a:t>
            </a:r>
            <a:endParaRPr lang="en-US" sz="11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международный конкурс</a:t>
            </a:r>
            <a:endParaRPr lang="en-US" sz="1150" dirty="0"/>
          </a:p>
        </p:txBody>
      </p:sp>
      <p:sp>
        <p:nvSpPr>
          <p:cNvPr id="21" name="Награда 5"/>
          <p:cNvSpPr/>
          <p:nvPr/>
        </p:nvSpPr>
        <p:spPr>
          <a:xfrm>
            <a:off x="6492240" y="4709160"/>
            <a:ext cx="248716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Место 5"/>
          <p:cNvSpPr txBox="1"/>
          <p:nvPr/>
        </p:nvSpPr>
        <p:spPr>
          <a:xfrm>
            <a:off x="6656832" y="4818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 место</a:t>
            </a:r>
            <a:endParaRPr lang="en-US" sz="2100" dirty="0"/>
          </a:p>
        </p:txBody>
      </p:sp>
      <p:sp>
        <p:nvSpPr>
          <p:cNvPr id="23" name="Конкурс 5"/>
          <p:cNvSpPr txBox="1"/>
          <p:nvPr/>
        </p:nvSpPr>
        <p:spPr>
          <a:xfrm>
            <a:off x="6656832" y="5221224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«Адмиралтейская игла»</a:t>
            </a:r>
            <a:endParaRPr lang="en-US" sz="11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2024, театральный костюм, коллекция «Ertak»</a:t>
            </a:r>
            <a:endParaRPr lang="en-US" sz="1150" dirty="0"/>
          </a:p>
        </p:txBody>
      </p:sp>
      <p:sp>
        <p:nvSpPr>
          <p:cNvPr id="24" name="Награда 6"/>
          <p:cNvSpPr/>
          <p:nvPr/>
        </p:nvSpPr>
        <p:spPr>
          <a:xfrm>
            <a:off x="9155887" y="4709160"/>
            <a:ext cx="2487168" cy="1325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Место 6"/>
          <p:cNvSpPr txBox="1"/>
          <p:nvPr/>
        </p:nvSpPr>
        <p:spPr>
          <a:xfrm>
            <a:off x="9320479" y="4818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Спецприз</a:t>
            </a:r>
            <a:endParaRPr lang="en-US" sz="2100" dirty="0"/>
          </a:p>
        </p:txBody>
      </p:sp>
      <p:sp>
        <p:nvSpPr>
          <p:cNvPr id="26" name="Конкурс 6"/>
          <p:cNvSpPr txBox="1"/>
          <p:nvPr/>
        </p:nvSpPr>
        <p:spPr>
          <a:xfrm>
            <a:off x="9320479" y="5221224"/>
            <a:ext cx="22128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«Студенческая весна в Санкт-Петербурге»</a:t>
            </a:r>
            <a:endParaRPr lang="en-US" sz="115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мода с элементами этно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7548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ИТОГИ И ПЛАНЫ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68096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Чему я научилась и куда иду</a:t>
            </a:r>
            <a:endParaRPr lang="en-US" sz="3400" dirty="0"/>
          </a:p>
        </p:txBody>
      </p:sp>
      <p:sp>
        <p:nvSpPr>
          <p:cNvPr id="4" name="Колонка 1"/>
          <p:cNvSpPr txBox="1"/>
          <p:nvPr/>
        </p:nvSpPr>
        <p:spPr>
          <a:xfrm>
            <a:off x="54864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ИТОГИ ГОДА</a:t>
            </a:r>
            <a:endParaRPr lang="en-US" sz="1100" dirty="0"/>
          </a:p>
        </p:txBody>
      </p:sp>
      <p:sp>
        <p:nvSpPr>
          <p:cNvPr id="5" name="Номер 1.1"/>
          <p:cNvSpPr txBox="1"/>
          <p:nvPr/>
        </p:nvSpPr>
        <p:spPr>
          <a:xfrm>
            <a:off x="54864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Пункт 1.1"/>
          <p:cNvSpPr txBox="1"/>
          <p:nvPr/>
        </p:nvSpPr>
        <p:spPr>
          <a:xfrm>
            <a:off x="1115568" y="22768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Превращать культурный код в современную форму: икат, вышивка и перья в актуальном крое</a:t>
            </a:r>
            <a:endParaRPr lang="en-US" sz="1400" dirty="0"/>
          </a:p>
        </p:txBody>
      </p:sp>
      <p:sp>
        <p:nvSpPr>
          <p:cNvPr id="7" name="Номер 1.2"/>
          <p:cNvSpPr txBox="1"/>
          <p:nvPr/>
        </p:nvSpPr>
        <p:spPr>
          <a:xfrm>
            <a:off x="54864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Пункт 1.2"/>
          <p:cNvSpPr txBox="1"/>
          <p:nvPr/>
        </p:nvSpPr>
        <p:spPr>
          <a:xfrm>
            <a:off x="1115568" y="346557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Работать в международной среде: Милан, Китай, крупнейшие музеи России</a:t>
            </a:r>
            <a:endParaRPr lang="en-US" sz="1400" dirty="0"/>
          </a:p>
        </p:txBody>
      </p:sp>
      <p:sp>
        <p:nvSpPr>
          <p:cNvPr id="9" name="Номер 1.3"/>
          <p:cNvSpPr txBox="1"/>
          <p:nvPr/>
        </p:nvSpPr>
        <p:spPr>
          <a:xfrm>
            <a:off x="548640" y="4617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Пункт 1.3"/>
          <p:cNvSpPr txBox="1"/>
          <p:nvPr/>
        </p:nvSpPr>
        <p:spPr>
          <a:xfrm>
            <a:off x="1115568" y="465429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Вести проект от идеи до запуска: «Код Бехзода» с консульством и академией</a:t>
            </a:r>
            <a:endParaRPr lang="en-US" sz="1400" dirty="0"/>
          </a:p>
        </p:txBody>
      </p:sp>
      <p:sp>
        <p:nvSpPr>
          <p:cNvPr id="11" name="Колонка 2"/>
          <p:cNvSpPr txBox="1"/>
          <p:nvPr/>
        </p:nvSpPr>
        <p:spPr>
          <a:xfrm>
            <a:off x="457200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ПЛАНЫ</a:t>
            </a:r>
            <a:endParaRPr lang="en-US" sz="1100" dirty="0"/>
          </a:p>
        </p:txBody>
      </p:sp>
      <p:sp>
        <p:nvSpPr>
          <p:cNvPr id="12" name="Номер 2.1"/>
          <p:cNvSpPr txBox="1"/>
          <p:nvPr/>
        </p:nvSpPr>
        <p:spPr>
          <a:xfrm>
            <a:off x="457200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Пункт 2.1"/>
          <p:cNvSpPr txBox="1"/>
          <p:nvPr/>
        </p:nvSpPr>
        <p:spPr>
          <a:xfrm>
            <a:off x="5138928" y="227685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следующий сезон «Кода Бехзода» и выставку работ участников</a:t>
            </a:r>
            <a:endParaRPr lang="en-US" sz="1400" dirty="0"/>
          </a:p>
        </p:txBody>
      </p:sp>
      <p:sp>
        <p:nvSpPr>
          <p:cNvPr id="14" name="Номер 2.2"/>
          <p:cNvSpPr txBox="1"/>
          <p:nvPr/>
        </p:nvSpPr>
        <p:spPr>
          <a:xfrm>
            <a:off x="457200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Пункт 2.2"/>
          <p:cNvSpPr txBox="1"/>
          <p:nvPr/>
        </p:nvSpPr>
        <p:spPr>
          <a:xfrm>
            <a:off x="5138928" y="346557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Завершить магистратуру и создать собственный бренд на основе иката</a:t>
            </a:r>
            <a:endParaRPr lang="en-US" sz="1400" dirty="0"/>
          </a:p>
        </p:txBody>
      </p:sp>
      <p:sp>
        <p:nvSpPr>
          <p:cNvPr id="16" name="Номер 2.3"/>
          <p:cNvSpPr txBox="1"/>
          <p:nvPr/>
        </p:nvSpPr>
        <p:spPr>
          <a:xfrm>
            <a:off x="4572000" y="4617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Пункт 2.3"/>
          <p:cNvSpPr txBox="1"/>
          <p:nvPr/>
        </p:nvSpPr>
        <p:spPr>
          <a:xfrm>
            <a:off x="5138928" y="4654296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Показать новую коллекцию на международной неделе моды</a:t>
            </a:r>
            <a:endParaRPr lang="en-US" sz="1400" dirty="0"/>
          </a:p>
        </p:txBody>
      </p:sp>
      <p:sp>
        <p:nvSpPr>
          <p:cNvPr id="18" name="Разделитель"/>
          <p:cNvSpPr/>
          <p:nvPr/>
        </p:nvSpPr>
        <p:spPr>
          <a:xfrm>
            <a:off x="4343400" y="1874520"/>
            <a:ext cx="0" cy="388620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pic>
        <p:nvPicPr>
          <p:cNvPr id="19" name="s8_parade" descr="Мохинур Комолова в авторском костюме на городском праздник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783080"/>
            <a:ext cx="3001975" cy="4023360"/>
          </a:xfrm>
          <a:prstGeom prst="rect">
            <a:avLst/>
          </a:prstGeom>
        </p:spPr>
      </p:pic>
      <p:pic>
        <p:nvPicPr>
          <p:cNvPr id="20" name="Лоскут иката" descr="Лоскут ткани ика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846320"/>
            <a:ext cx="1188720" cy="1437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A7480"/>
                </a:solidFill>
                <a:latin typeface="Playfair Display"/>
                <a:ea typeface="Playfair Display"/>
                <a:cs typeface="Playfair Display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скут иката, индиго" descr="Лоскут ткани ика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640080"/>
            <a:ext cx="2331720" cy="2818826"/>
          </a:xfrm>
          <a:prstGeom prst="rect">
            <a:avLst/>
          </a:prstGeom>
        </p:spPr>
      </p:pic>
      <p:pic>
        <p:nvPicPr>
          <p:cNvPr id="3" name="Лоскут иката, гранат" descr="Лоскут ткани ика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011680"/>
            <a:ext cx="2240280" cy="2693625"/>
          </a:xfrm>
          <a:prstGeom prst="rect">
            <a:avLst/>
          </a:prstGeom>
        </p:spPr>
      </p:pic>
      <p:pic>
        <p:nvPicPr>
          <p:cNvPr id="4" name="Лоскут иката, чёрный" descr="Лоскут ткани ика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840480"/>
            <a:ext cx="1965960" cy="2407866"/>
          </a:xfrm>
          <a:prstGeom prst="rect">
            <a:avLst/>
          </a:prstGeom>
        </p:spPr>
      </p:pic>
      <p:sp>
        <p:nvSpPr>
          <p:cNvPr id="5" name="Рахмат"/>
          <p:cNvSpPr txBox="1"/>
          <p:nvPr/>
        </p:nvSpPr>
        <p:spPr>
          <a:xfrm>
            <a:off x="548640" y="13258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i="1" dirty="0">
                <a:solidFill>
                  <a:schemeClr val="accent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Рахмат!</a:t>
            </a:r>
            <a:endParaRPr lang="en-US" sz="96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29260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Спасибо за внимание</a:t>
            </a:r>
            <a:endParaRPr lang="en-US" sz="4000" dirty="0"/>
          </a:p>
        </p:txBody>
      </p:sp>
      <p:sp>
        <p:nvSpPr>
          <p:cNvPr id="7" name="Вопросы"/>
          <p:cNvSpPr txBox="1"/>
          <p:nvPr/>
        </p:nvSpPr>
        <p:spPr>
          <a:xfrm>
            <a:off x="5486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Буду рада ответить на ваши вопросы</a:t>
            </a:r>
            <a:endParaRPr lang="en-US" sz="1600" dirty="0"/>
          </a:p>
        </p:txBody>
      </p:sp>
      <p:sp>
        <p:nvSpPr>
          <p:cNvPr id="8" name="Имя"/>
          <p:cNvSpPr txBox="1"/>
          <p:nvPr/>
        </p:nvSpPr>
        <p:spPr>
          <a:xfrm>
            <a:off x="548640" y="5212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МОХИНУР КОМОЛОВА</a:t>
            </a:r>
            <a:endParaRPr lang="en-US" sz="1100" dirty="0"/>
          </a:p>
        </p:txBody>
      </p:sp>
      <p:sp>
        <p:nvSpPr>
          <p:cNvPr id="9" name="Подпись"/>
          <p:cNvSpPr txBox="1"/>
          <p:nvPr/>
        </p:nvSpPr>
        <p:spPr>
          <a:xfrm>
            <a:off x="548640" y="5504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Дизайнер костюма · «Вдохновленные творчеством»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molova Ikat">
  <a:themeElements>
    <a:clrScheme name="Komolova Ikat">
      <a:dk1>
        <a:srgbClr val="15131A"/>
      </a:dk1>
      <a:lt1>
        <a:srgbClr val="FFFFFF"/>
      </a:lt1>
      <a:dk2>
        <a:srgbClr val="4A4450"/>
      </a:dk2>
      <a:lt2>
        <a:srgbClr val="F3EFE9"/>
      </a:lt2>
      <a:accent1>
        <a:srgbClr val="A3172E"/>
      </a:accent1>
      <a:accent2>
        <a:srgbClr val="B8924A"/>
      </a:accent2>
      <a:accent3>
        <a:srgbClr val="24357A"/>
      </a:accent3>
      <a:accent4>
        <a:srgbClr val="D9BF84"/>
      </a:accent4>
      <a:accent5>
        <a:srgbClr val="A9A0B0"/>
      </a:accent5>
      <a:accent6>
        <a:srgbClr val="7A7480"/>
      </a:accent6>
      <a:hlink>
        <a:srgbClr val="24357A"/>
      </a:hlink>
      <a:folHlink>
        <a:srgbClr val="7A7480"/>
      </a:folHlink>
    </a:clrScheme>
    <a:fontScheme name="Komolova Ikat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Комолова Мохинур. Презентация достижений</dc:title>
  <dc:subject>СтудRussia, СЗФО 2026. Номинация «Вдохновленные творчеством»</dc:subject>
  <dc:creator>Комолова Мохинур Олимбой кизи</dc:creator>
  <cp:lastModifiedBy>Комолова Мохинур Олимбой кизи</cp:lastModifiedBy>
  <cp:revision>1</cp:revision>
  <dcterms:created xsi:type="dcterms:W3CDTF">2026-10-22T17:41:31Z</dcterms:created>
  <dcterms:modified xsi:type="dcterms:W3CDTF">2026-10-22T17:41:31Z</dcterms:modified>
</cp:coreProperties>
</file>