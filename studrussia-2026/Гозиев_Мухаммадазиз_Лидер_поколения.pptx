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5866686f-d0dc-1d44-7f76-493d8e4a29d4}">
          <p14:sldIdLst>
            <p14:sldId id="256"/>
          </p14:sldIdLst>
        </p14:section>
        <p14:section name="О себе" id="{92bd04c3-ba8e-cbe3-bfc4-9e8177fa5601}">
          <p14:sldIdLst>
            <p14:sldId id="257"/>
          </p14:sldIdLst>
        </p14:section>
        <p14:section name="Достижения" id="{f2b784dd-2246-9070-e766-199957b46f12}">
          <p14:sldIdLst>
            <p14:sldId id="258"/>
            <p14:sldId id="259"/>
            <p14:sldId id="260"/>
          </p14:sldIdLst>
        </p14:section>
        <p14:section name="Лидерство" id="{8ef8b10e-565b-bb97-e232-b75c23448c01}">
          <p14:sldIdLst>
            <p14:sldId id="261"/>
          </p14:sldIdLst>
        </p14:section>
        <p14:section name="Подтверждения" id="{478a03a3-02e5-754c-3c3d-d60d9a143ec9}">
          <p14:sldIdLst>
            <p14:sldId id="262"/>
          </p14:sldIdLst>
        </p14:section>
        <p14:section name="Итоги и планы" id="{b35a220b-880b-5867-0549-80ddf56c0313}">
          <p14:sldIdLst>
            <p14:sldId id="263"/>
          </p14:sldIdLst>
        </p14:section>
        <p14:section name="Финал" id="{fc19fc72-6df9-0d94-3cfc-089cae40a33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≈15 сек.
Добрый день, уважаемые эксперты! Меня зовут Гозиев Мухаммадазиз Кодир угли, я студент пятого курса лечебного факультета Санкт-Петербургского государственного педиатрического медицинского университета. Участвую в номинации «Лидер поколения». Моё направление: студенческое самоуправление и межнациональное сотрудничество.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≈35 сек.
Я приехал учиться в Петербург из Узбекистана и по себе знаю, как важно в первые месяцы почувствовать поддержку. Поэтому моя цель: чтобы иностранный студент быстрее становился своим. Сегодня у меня четыре руководящие роли: председатель студсовета общежития, руководитель Клуба иностранных обучающихся, руководитель сектора в Международном клубе дружбы Санкт-Петербурга и координатор узбекской молодёжи университета по назначению Генерального консульства. За год это 18 мероприятий и 6 международных форумов. Расскажу о трёх главных результатах.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≈55 сек.
Первое достижение: I Международный культурный фестиваль СПбГПМУ, 22 мая 2026 года. Идея простая: в одном университете учатся студенты из многих стран, и им нужна сцена, где они сами рассказывают о своём народе. Я был главным организатором: придумал концепцию и программу и собрал команду. В подготовке участвовали Клуб иностранных обучающихся, студенческий и молодёжный советы университета и Международный клуб дружбы Санкт-Петербурга. Фестиваль прошёл при поддержке ректората, а сертификаты участникам подписал ректор университета Дмитрий Олегович Иванов. Это первый такой фестиваль в истории вуза.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≈55 сек.
Второе достижение: студенческое самоуправление. С 2023 года я председатель студенческого совета общежития №2, а с 2025 года руковожу Клубом иностранных обучающихся. Вместе с командой мы добились открытия спортзала в общежитии, я провёл первое отчётное собрание совета. В клубе я запустил вечер-фестиваль Global Connect Night и разговорный клуб английского языка: для студентов, которые ещё осваивают русский, это первый круг общения. Результат: общежитие №2 признано лучшим в университете, а наша команда впервые в истории вуза стала призёром окружного конкурса студенческих советов общежитий «ОБЩАГА» СЗФО.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≈55 сек.
Третье достижение: город и международный уровень. С 2026 года я руковожу сектором «Образование и наука» Международного клуба дружбы Санкт-Петербурга: вывел актив сектора на Всероссийский студенческий научный форум и организовал для Клуба иностранных обучающихся визит в Молодёжный парламент при Законодательном Собрании. О работе клуба мы отчитывались на заседании с вице-губернатором. Генеральное консульство Республики Узбекистан назначило меня координатором узбекской молодёжи университета; вместе с администрацией мы принимали делегацию Бухарского медицинского института, а по итогам года я получил звание «Йил координатори». В сентябре я был атташе Международного фестиваля молодёжи в Екатеринбурге в составе делегации Петербурга: 10 000 участников из 191 страны.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сек.
Мой путь лидера: начинал с совета общежития, а сегодня возглавляю четыре сообщества и работаю на всех уровнях: в университете, в городе, на всероссийских и международных площадках. Каждый шаг давал новую роль и новую команду, и на каждом уровне я представляю не себя, а студентов, которые мне доверяют.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≈10 сек.
О наших проектах писали СМИ и официальные сообщества: здесь QR-коды на публикации о фестивале, о работе Международного клуба дружбы, о конкурсе «ОБЩАГА» и моё интервью телеканалу.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≈35 сек.
За этот год я научился трём вещам: собирать команду из разных организаций вокруг одной идеи, договариваться с администрацией, партнёрами и консульством и отвечать за результат от идеи до отчёта. В новом учебном году хочу сделать фестиваль традицией и пригласить студентов других вузов Петербурга, запустить наставничество для первокурсников из других стран, собрать межвузовскую научную секцию иностранных студентов и развивать связи нашего университета с медицинскими вузами Узбекистана.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 сек.
Спасибо за внимание!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Гозиев Мухаммадазиз Кодир угли  ·  «Лидер поколения»  ·  СтудRussia, СЗФО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СтудRussia  ·  СЗФО 2026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  Первое очное испытание: презентация достижений</a:t>
            </a:r>
            <a:endParaRPr lang="en-US" sz="1400" dirty="0"/>
          </a:p>
        </p:txBody>
      </p:sp>
      <p:sp>
        <p:nvSpPr>
          <p:cNvPr id="3" name="nomination"/>
          <p:cNvSpPr txBox="1"/>
          <p:nvPr/>
        </p:nvSpPr>
        <p:spPr>
          <a:xfrm>
            <a:off x="731520" y="1325880"/>
            <a:ext cx="42062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chemeClr val="bg1"/>
                </a:solidFill>
              </a:rPr>
              <a:t>НОМИНАЦИЯ «ЛИДЕР ПОКОЛЕНИЯ»</a:t>
            </a:r>
            <a:endParaRPr lang="en-US" sz="1400" dirty="0"/>
          </a:p>
        </p:txBody>
      </p:sp>
      <p:sp>
        <p:nvSpPr>
          <p:cNvPr id="4" name="name"/>
          <p:cNvSpPr txBox="1"/>
          <p:nvPr/>
        </p:nvSpPr>
        <p:spPr>
          <a:xfrm>
            <a:off x="731520" y="1965960"/>
            <a:ext cx="6675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Гозиев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Мухаммадазиз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Кодир угли</a:t>
            </a:r>
            <a:endParaRPr lang="en-US" sz="4600" dirty="0"/>
          </a:p>
        </p:txBody>
      </p:sp>
      <p:sp>
        <p:nvSpPr>
          <p:cNvPr id="5" name="university"/>
          <p:cNvSpPr txBox="1"/>
          <p:nvPr/>
        </p:nvSpPr>
        <p:spPr>
          <a:xfrm>
            <a:off x="731520" y="43434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Студент 5 курса лечебного факультета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Санкт-Петербургский государственный педиатрический медицинский университет (СПбГПМУ)</a:t>
            </a:r>
            <a:endParaRPr lang="en-US" sz="1800" dirty="0"/>
          </a:p>
        </p:txBody>
      </p:sp>
      <p:sp>
        <p:nvSpPr>
          <p:cNvPr id="6" name="direction"/>
          <p:cNvSpPr txBox="1"/>
          <p:nvPr/>
        </p:nvSpPr>
        <p:spPr>
          <a:xfrm>
            <a:off x="731520" y="53492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НАПРАВЛЕНИЕ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Студенческое самоуправление и межнациональное сотрудничество</a:t>
            </a:r>
            <a:endParaRPr lang="en-US" sz="1200" dirty="0"/>
          </a:p>
        </p:txBody>
      </p:sp>
      <p:sp>
        <p:nvSpPr>
          <p:cNvPr id="7" name="portrait-panel"/>
          <p:cNvSpPr/>
          <p:nvPr/>
        </p:nvSpPr>
        <p:spPr>
          <a:xfrm>
            <a:off x="7498080" y="1097280"/>
            <a:ext cx="4206240" cy="5120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pic>
        <p:nvPicPr>
          <p:cNvPr id="8" name="portrait" descr="Портрет: Гозиев Мухаммадазиз на фоне флагов России и Узбекиста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325880"/>
            <a:ext cx="3749040" cy="4114800"/>
          </a:xfrm>
          <a:prstGeom prst="rect">
            <a:avLst/>
          </a:prstGeom>
        </p:spPr>
      </p:pic>
      <p:sp>
        <p:nvSpPr>
          <p:cNvPr id="9" name="date"/>
          <p:cNvSpPr txBox="1"/>
          <p:nvPr/>
        </p:nvSpPr>
        <p:spPr>
          <a:xfrm>
            <a:off x="7726680" y="5596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Санкт-Петербург, 24–25 октября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О СЕБЕ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Объединяю студентов разных народов</a:t>
            </a:r>
            <a:endParaRPr lang="en-US" sz="3200" dirty="0"/>
          </a:p>
        </p:txBody>
      </p:sp>
      <p:pic>
        <p:nvPicPr>
          <p:cNvPr id="4" name="photo-spief" descr="Гозиев Мухаммадазиз за трибуной Петербургского международного экономического форума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108960" cy="4526280"/>
          </a:xfrm>
          <a:prstGeom prst="rect">
            <a:avLst/>
          </a:prstGeom>
        </p:spPr>
      </p:pic>
      <p:sp>
        <p:nvSpPr>
          <p:cNvPr id="5" name="cap-spief"/>
          <p:cNvSpPr txBox="1"/>
          <p:nvPr/>
        </p:nvSpPr>
        <p:spPr>
          <a:xfrm>
            <a:off x="658368" y="5797296"/>
            <a:ext cx="1010412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ПМЭФ 2026</a:t>
            </a:r>
            <a:endParaRPr lang="en-US" sz="1100" dirty="0"/>
          </a:p>
        </p:txBody>
      </p:sp>
      <p:sp>
        <p:nvSpPr>
          <p:cNvPr id="6" name="bio"/>
          <p:cNvSpPr txBox="1"/>
          <p:nvPr/>
        </p:nvSpPr>
        <p:spPr>
          <a:xfrm>
            <a:off x="3977640" y="1691640"/>
            <a:ext cx="7665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Я из Узбекистана. Помогаю иностранным студентам стать своими в университете и в Петербурге.</a:t>
            </a:r>
            <a:endParaRPr lang="en-US" sz="1800" dirty="0"/>
          </a:p>
        </p:txBody>
      </p:sp>
      <p:sp>
        <p:nvSpPr>
          <p:cNvPr id="7" name="roles-label"/>
          <p:cNvSpPr txBox="1"/>
          <p:nvPr/>
        </p:nvSpPr>
        <p:spPr>
          <a:xfrm>
            <a:off x="3977640" y="2395728"/>
            <a:ext cx="7665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МОИ РОЛИ</a:t>
            </a:r>
            <a:endParaRPr lang="en-US" sz="1300" dirty="0"/>
          </a:p>
        </p:txBody>
      </p:sp>
      <p:sp>
        <p:nvSpPr>
          <p:cNvPr id="8" name="role1-year"/>
          <p:cNvSpPr txBox="1"/>
          <p:nvPr/>
        </p:nvSpPr>
        <p:spPr>
          <a:xfrm>
            <a:off x="3977640" y="2724912"/>
            <a:ext cx="86868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2023</a:t>
            </a:r>
            <a:endParaRPr lang="en-US" sz="1200" dirty="0"/>
          </a:p>
        </p:txBody>
      </p:sp>
      <p:sp>
        <p:nvSpPr>
          <p:cNvPr id="9" name="role1"/>
          <p:cNvSpPr txBox="1"/>
          <p:nvPr/>
        </p:nvSpPr>
        <p:spPr>
          <a:xfrm>
            <a:off x="5001768" y="2724912"/>
            <a:ext cx="66412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Председатель студенческого совета общежития №2 СПбГПМУ</a:t>
            </a:r>
            <a:endParaRPr lang="en-US" sz="1500" dirty="0"/>
          </a:p>
        </p:txBody>
      </p:sp>
      <p:sp>
        <p:nvSpPr>
          <p:cNvPr id="10" name="role2-year"/>
          <p:cNvSpPr txBox="1"/>
          <p:nvPr/>
        </p:nvSpPr>
        <p:spPr>
          <a:xfrm>
            <a:off x="3977640" y="3163824"/>
            <a:ext cx="86868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2025</a:t>
            </a:r>
            <a:endParaRPr lang="en-US" sz="1200" dirty="0"/>
          </a:p>
        </p:txBody>
      </p:sp>
      <p:sp>
        <p:nvSpPr>
          <p:cNvPr id="11" name="role2"/>
          <p:cNvSpPr txBox="1"/>
          <p:nvPr/>
        </p:nvSpPr>
        <p:spPr>
          <a:xfrm>
            <a:off x="5001768" y="3163824"/>
            <a:ext cx="66412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Руководитель Клуба иностранных обучающихся СПбГПМУ</a:t>
            </a:r>
            <a:endParaRPr lang="en-US" sz="1500" dirty="0"/>
          </a:p>
        </p:txBody>
      </p:sp>
      <p:sp>
        <p:nvSpPr>
          <p:cNvPr id="12" name="role3-year"/>
          <p:cNvSpPr txBox="1"/>
          <p:nvPr/>
        </p:nvSpPr>
        <p:spPr>
          <a:xfrm>
            <a:off x="3977640" y="3602736"/>
            <a:ext cx="86868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2026</a:t>
            </a:r>
            <a:endParaRPr lang="en-US" sz="1200" dirty="0"/>
          </a:p>
        </p:txBody>
      </p:sp>
      <p:sp>
        <p:nvSpPr>
          <p:cNvPr id="13" name="role3"/>
          <p:cNvSpPr txBox="1"/>
          <p:nvPr/>
        </p:nvSpPr>
        <p:spPr>
          <a:xfrm>
            <a:off x="5001768" y="3602736"/>
            <a:ext cx="66412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Руководитель сектора «Образование и наука» Международного клуба дружбы Санкт-Петербурга</a:t>
            </a:r>
            <a:endParaRPr lang="en-US" sz="1500" dirty="0"/>
          </a:p>
        </p:txBody>
      </p:sp>
      <p:sp>
        <p:nvSpPr>
          <p:cNvPr id="14" name="role4-year"/>
          <p:cNvSpPr txBox="1"/>
          <p:nvPr/>
        </p:nvSpPr>
        <p:spPr>
          <a:xfrm>
            <a:off x="3977640" y="4242816"/>
            <a:ext cx="86868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2026</a:t>
            </a:r>
            <a:endParaRPr lang="en-US" sz="1200" dirty="0"/>
          </a:p>
        </p:txBody>
      </p:sp>
      <p:sp>
        <p:nvSpPr>
          <p:cNvPr id="15" name="role4"/>
          <p:cNvSpPr txBox="1"/>
          <p:nvPr/>
        </p:nvSpPr>
        <p:spPr>
          <a:xfrm>
            <a:off x="5001768" y="4242816"/>
            <a:ext cx="66412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Координатор узбекской молодёжи СПбГПМУ по назначению Генерального консульства Республики Узбекистан</a:t>
            </a:r>
            <a:endParaRPr lang="en-US" sz="1500" dirty="0"/>
          </a:p>
        </p:txBody>
      </p:sp>
      <p:sp>
        <p:nvSpPr>
          <p:cNvPr id="16" name="stat1-card"/>
          <p:cNvSpPr/>
          <p:nvPr/>
        </p:nvSpPr>
        <p:spPr>
          <a:xfrm>
            <a:off x="3977640" y="4892040"/>
            <a:ext cx="243321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7" name="stat1-num"/>
          <p:cNvSpPr txBox="1"/>
          <p:nvPr/>
        </p:nvSpPr>
        <p:spPr>
          <a:xfrm>
            <a:off x="4160520" y="5001768"/>
            <a:ext cx="2067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</a:t>
            </a:r>
            <a:endParaRPr lang="en-US" sz="3400" dirty="0"/>
          </a:p>
        </p:txBody>
      </p:sp>
      <p:sp>
        <p:nvSpPr>
          <p:cNvPr id="18" name="stat1-label"/>
          <p:cNvSpPr txBox="1"/>
          <p:nvPr/>
        </p:nvSpPr>
        <p:spPr>
          <a:xfrm>
            <a:off x="4160520" y="5586984"/>
            <a:ext cx="20674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сообщества под моим руководством</a:t>
            </a:r>
            <a:endParaRPr lang="en-US" sz="1300" dirty="0"/>
          </a:p>
        </p:txBody>
      </p:sp>
      <p:sp>
        <p:nvSpPr>
          <p:cNvPr id="19" name="stat2-card"/>
          <p:cNvSpPr/>
          <p:nvPr/>
        </p:nvSpPr>
        <p:spPr>
          <a:xfrm>
            <a:off x="6593738" y="4892040"/>
            <a:ext cx="243321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0" name="stat2-num"/>
          <p:cNvSpPr txBox="1"/>
          <p:nvPr/>
        </p:nvSpPr>
        <p:spPr>
          <a:xfrm>
            <a:off x="6776618" y="5001768"/>
            <a:ext cx="2067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18</a:t>
            </a:r>
            <a:endParaRPr lang="en-US" sz="3400" dirty="0"/>
          </a:p>
        </p:txBody>
      </p:sp>
      <p:sp>
        <p:nvSpPr>
          <p:cNvPr id="21" name="stat2-label"/>
          <p:cNvSpPr txBox="1"/>
          <p:nvPr/>
        </p:nvSpPr>
        <p:spPr>
          <a:xfrm>
            <a:off x="6776618" y="5586984"/>
            <a:ext cx="20674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мероприятий организовал или помог провести за год</a:t>
            </a:r>
            <a:endParaRPr lang="en-US" sz="1300" dirty="0"/>
          </a:p>
        </p:txBody>
      </p:sp>
      <p:sp>
        <p:nvSpPr>
          <p:cNvPr id="22" name="stat3-card"/>
          <p:cNvSpPr/>
          <p:nvPr/>
        </p:nvSpPr>
        <p:spPr>
          <a:xfrm>
            <a:off x="9209837" y="4892040"/>
            <a:ext cx="243321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3" name="stat3-num"/>
          <p:cNvSpPr txBox="1"/>
          <p:nvPr/>
        </p:nvSpPr>
        <p:spPr>
          <a:xfrm>
            <a:off x="9392717" y="5001768"/>
            <a:ext cx="2067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</a:t>
            </a:r>
            <a:endParaRPr lang="en-US" sz="3400" dirty="0"/>
          </a:p>
        </p:txBody>
      </p:sp>
      <p:sp>
        <p:nvSpPr>
          <p:cNvPr id="24" name="stat3-label"/>
          <p:cNvSpPr txBox="1"/>
          <p:nvPr/>
        </p:nvSpPr>
        <p:spPr>
          <a:xfrm>
            <a:off x="9392717" y="5586984"/>
            <a:ext cx="20674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международных форумов и конгрессов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ДОСТИЖЕНИЕ 1 ИЗ 3  ·  УНИВЕРСИТЕТ  ·  22 МАЯ 2026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 Международный культурный фестиваль СПбГПМУ</a:t>
            </a:r>
            <a:endParaRPr lang="en-US" sz="3200" dirty="0"/>
          </a:p>
        </p:txBody>
      </p:sp>
      <p:pic>
        <p:nvPicPr>
          <p:cNvPr id="4" name="photo-fest1" descr="Участники фестиваля в национальных костюма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120640" cy="3410712"/>
          </a:xfrm>
          <a:prstGeom prst="rect">
            <a:avLst/>
          </a:prstGeom>
        </p:spPr>
      </p:pic>
      <p:sp>
        <p:nvSpPr>
          <p:cNvPr id="5" name="cap-fest1"/>
          <p:cNvSpPr txBox="1"/>
          <p:nvPr/>
        </p:nvSpPr>
        <p:spPr>
          <a:xfrm>
            <a:off x="658368" y="1801368"/>
            <a:ext cx="287578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Участники в национальных костюмах</a:t>
            </a:r>
            <a:endParaRPr lang="en-US" sz="1100" dirty="0"/>
          </a:p>
        </p:txBody>
      </p:sp>
      <p:sp>
        <p:nvSpPr>
          <p:cNvPr id="6" name="inset-frame"/>
          <p:cNvSpPr/>
          <p:nvPr/>
        </p:nvSpPr>
        <p:spPr>
          <a:xfrm>
            <a:off x="2971800" y="4507992"/>
            <a:ext cx="2596896" cy="1773936"/>
          </a:xfrm>
          <a:prstGeom prst="roundRect">
            <a:avLst>
              <a:gd name="adj" fmla="val 8247"/>
            </a:avLst>
          </a:prstGeom>
          <a:solidFill>
            <a:schemeClr val="bg1"/>
          </a:solidFill>
          <a:ln/>
        </p:spPr>
      </p:sp>
      <p:pic>
        <p:nvPicPr>
          <p:cNvPr id="7" name="photo-fest2" descr="Участники и гости фестиваля с флагами своих стра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4572000"/>
            <a:ext cx="2468880" cy="1645920"/>
          </a:xfrm>
          <a:prstGeom prst="rect">
            <a:avLst/>
          </a:prstGeom>
        </p:spPr>
      </p:pic>
      <p:sp>
        <p:nvSpPr>
          <p:cNvPr id="8" name="first-num"/>
          <p:cNvSpPr txBox="1"/>
          <p:nvPr/>
        </p:nvSpPr>
        <p:spPr>
          <a:xfrm>
            <a:off x="548640" y="5230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1-й</a:t>
            </a:r>
            <a:endParaRPr lang="en-US" sz="3600" dirty="0"/>
          </a:p>
        </p:txBody>
      </p:sp>
      <p:sp>
        <p:nvSpPr>
          <p:cNvPr id="9" name="first-label"/>
          <p:cNvSpPr txBox="1"/>
          <p:nvPr/>
        </p:nvSpPr>
        <p:spPr>
          <a:xfrm>
            <a:off x="548640" y="57972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международный культурный фестиваль в истории вуза</a:t>
            </a:r>
            <a:endParaRPr lang="en-US" sz="1200" dirty="0"/>
          </a:p>
        </p:txBody>
      </p:sp>
      <p:sp>
        <p:nvSpPr>
          <p:cNvPr id="10" name="step1-card"/>
          <p:cNvSpPr/>
          <p:nvPr/>
        </p:nvSpPr>
        <p:spPr>
          <a:xfrm>
            <a:off x="5943600" y="1691640"/>
            <a:ext cx="5699455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sp>
        <p:nvSpPr>
          <p:cNvPr id="11" name="step1-num"/>
          <p:cNvSpPr txBox="1"/>
          <p:nvPr/>
        </p:nvSpPr>
        <p:spPr>
          <a:xfrm>
            <a:off x="6172200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tep1-label"/>
          <p:cNvSpPr txBox="1"/>
          <p:nvPr/>
        </p:nvSpPr>
        <p:spPr>
          <a:xfrm>
            <a:off x="6812280" y="187452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ЧТО СДЕЛАЛ</a:t>
            </a:r>
            <a:endParaRPr lang="en-US" sz="1300" dirty="0"/>
          </a:p>
        </p:txBody>
      </p:sp>
      <p:sp>
        <p:nvSpPr>
          <p:cNvPr id="13" name="step1-body"/>
          <p:cNvSpPr txBox="1"/>
          <p:nvPr/>
        </p:nvSpPr>
        <p:spPr>
          <a:xfrm>
            <a:off x="6812280" y="2203704"/>
            <a:ext cx="4602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Придумал и провёл первый в СПбГПМУ международный фестиваль: студенты разных стран сами рассказывают о своих народах.</a:t>
            </a:r>
            <a:endParaRPr lang="en-US" sz="1600" dirty="0"/>
          </a:p>
        </p:txBody>
      </p:sp>
      <p:sp>
        <p:nvSpPr>
          <p:cNvPr id="14" name="step2-card"/>
          <p:cNvSpPr/>
          <p:nvPr/>
        </p:nvSpPr>
        <p:spPr>
          <a:xfrm>
            <a:off x="5943600" y="3268980"/>
            <a:ext cx="5699455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sp>
        <p:nvSpPr>
          <p:cNvPr id="15" name="step2-num"/>
          <p:cNvSpPr txBox="1"/>
          <p:nvPr/>
        </p:nvSpPr>
        <p:spPr>
          <a:xfrm>
            <a:off x="6172200" y="34701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tep2-label"/>
          <p:cNvSpPr txBox="1"/>
          <p:nvPr/>
        </p:nvSpPr>
        <p:spPr>
          <a:xfrm>
            <a:off x="6812280" y="345186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МОЯ РОЛЬ</a:t>
            </a:r>
            <a:endParaRPr lang="en-US" sz="1300" dirty="0"/>
          </a:p>
        </p:txBody>
      </p:sp>
      <p:sp>
        <p:nvSpPr>
          <p:cNvPr id="17" name="step2-body"/>
          <p:cNvSpPr txBox="1"/>
          <p:nvPr/>
        </p:nvSpPr>
        <p:spPr>
          <a:xfrm>
            <a:off x="6812280" y="3781044"/>
            <a:ext cx="4602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Главный организатор: концепция, программа, команда из 4 студенческих организаций университета и города.</a:t>
            </a:r>
            <a:endParaRPr lang="en-US" sz="1600" dirty="0"/>
          </a:p>
        </p:txBody>
      </p:sp>
      <p:sp>
        <p:nvSpPr>
          <p:cNvPr id="18" name="step3-card"/>
          <p:cNvSpPr/>
          <p:nvPr/>
        </p:nvSpPr>
        <p:spPr>
          <a:xfrm>
            <a:off x="5943600" y="4846320"/>
            <a:ext cx="5699455" cy="1371600"/>
          </a:xfrm>
          <a:prstGeom prst="roundRect">
            <a:avLst>
              <a:gd name="adj" fmla="val 9333"/>
            </a:avLst>
          </a:prstGeom>
          <a:solidFill>
            <a:schemeClr val="accent1"/>
          </a:solidFill>
          <a:ln/>
        </p:spPr>
      </p:sp>
      <p:sp>
        <p:nvSpPr>
          <p:cNvPr id="19" name="step3-num"/>
          <p:cNvSpPr txBox="1"/>
          <p:nvPr/>
        </p:nvSpPr>
        <p:spPr>
          <a:xfrm>
            <a:off x="6172200" y="504748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tep3-label"/>
          <p:cNvSpPr txBox="1"/>
          <p:nvPr/>
        </p:nvSpPr>
        <p:spPr>
          <a:xfrm>
            <a:off x="6812280" y="502920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РЕЗУЛЬТАТ</a:t>
            </a:r>
            <a:endParaRPr lang="en-US" sz="1300" dirty="0"/>
          </a:p>
        </p:txBody>
      </p:sp>
      <p:sp>
        <p:nvSpPr>
          <p:cNvPr id="21" name="step3-body"/>
          <p:cNvSpPr txBox="1"/>
          <p:nvPr/>
        </p:nvSpPr>
        <p:spPr>
          <a:xfrm>
            <a:off x="6812280" y="5358384"/>
            <a:ext cx="4602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Фестиваль прошёл при поддержке ректората. Сертификаты участникам подписал ректор СПбГПМУ Д. О. Иванов.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ДОСТИЖЕНИЕ 2 ИЗ 3  ·  СТУДЕНЧЕСКОЕ САМОУПРАВЛЕНИЕ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Самоуправление, которое даёт результат</a:t>
            </a:r>
            <a:endParaRPr lang="en-US" sz="3200" dirty="0"/>
          </a:p>
        </p:txBody>
      </p:sp>
      <p:sp>
        <p:nvSpPr>
          <p:cNvPr id="4" name="step1-card"/>
          <p:cNvSpPr/>
          <p:nvPr/>
        </p:nvSpPr>
        <p:spPr>
          <a:xfrm>
            <a:off x="548640" y="1691640"/>
            <a:ext cx="5696712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sp>
        <p:nvSpPr>
          <p:cNvPr id="5" name="step1-num"/>
          <p:cNvSpPr txBox="1"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1-label"/>
          <p:cNvSpPr txBox="1"/>
          <p:nvPr/>
        </p:nvSpPr>
        <p:spPr>
          <a:xfrm>
            <a:off x="1417320" y="18745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ЧТО СДЕЛАЛ</a:t>
            </a:r>
            <a:endParaRPr lang="en-US" sz="1300" dirty="0"/>
          </a:p>
        </p:txBody>
      </p:sp>
      <p:sp>
        <p:nvSpPr>
          <p:cNvPr id="7" name="step1-body"/>
          <p:cNvSpPr txBox="1"/>
          <p:nvPr/>
        </p:nvSpPr>
        <p:spPr>
          <a:xfrm>
            <a:off x="1417320" y="2203704"/>
            <a:ext cx="4599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Открыли спортзал в общежитии, провёл первое отчётное собрание совета, запустил Global Connect Night и разговорный клуб английского.</a:t>
            </a:r>
            <a:endParaRPr lang="en-US" sz="1600" dirty="0"/>
          </a:p>
        </p:txBody>
      </p:sp>
      <p:sp>
        <p:nvSpPr>
          <p:cNvPr id="8" name="step2-card"/>
          <p:cNvSpPr/>
          <p:nvPr/>
        </p:nvSpPr>
        <p:spPr>
          <a:xfrm>
            <a:off x="548640" y="3268980"/>
            <a:ext cx="5696712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sp>
        <p:nvSpPr>
          <p:cNvPr id="9" name="step2-num"/>
          <p:cNvSpPr txBox="1"/>
          <p:nvPr/>
        </p:nvSpPr>
        <p:spPr>
          <a:xfrm>
            <a:off x="777240" y="34701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tep2-label"/>
          <p:cNvSpPr txBox="1"/>
          <p:nvPr/>
        </p:nvSpPr>
        <p:spPr>
          <a:xfrm>
            <a:off x="1417320" y="345186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МОЯ РОЛЬ</a:t>
            </a:r>
            <a:endParaRPr lang="en-US" sz="1300" dirty="0"/>
          </a:p>
        </p:txBody>
      </p:sp>
      <p:sp>
        <p:nvSpPr>
          <p:cNvPr id="11" name="step2-body"/>
          <p:cNvSpPr txBox="1"/>
          <p:nvPr/>
        </p:nvSpPr>
        <p:spPr>
          <a:xfrm>
            <a:off x="1417320" y="3781044"/>
            <a:ext cx="4599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Председатель студсовета общежития №2 (с 2023) и руководитель Клуба иностранных обучающихся СПбГПМУ (с 2025).</a:t>
            </a:r>
            <a:endParaRPr lang="en-US" sz="1600" dirty="0"/>
          </a:p>
        </p:txBody>
      </p:sp>
      <p:sp>
        <p:nvSpPr>
          <p:cNvPr id="12" name="step3-card"/>
          <p:cNvSpPr/>
          <p:nvPr/>
        </p:nvSpPr>
        <p:spPr>
          <a:xfrm>
            <a:off x="548640" y="4846320"/>
            <a:ext cx="5696712" cy="1371600"/>
          </a:xfrm>
          <a:prstGeom prst="roundRect">
            <a:avLst>
              <a:gd name="adj" fmla="val 9333"/>
            </a:avLst>
          </a:prstGeom>
          <a:solidFill>
            <a:schemeClr val="accent1"/>
          </a:solidFill>
          <a:ln/>
        </p:spPr>
      </p:sp>
      <p:sp>
        <p:nvSpPr>
          <p:cNvPr id="13" name="step3-num"/>
          <p:cNvSpPr txBox="1"/>
          <p:nvPr/>
        </p:nvSpPr>
        <p:spPr>
          <a:xfrm>
            <a:off x="777240" y="504748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ep3-label"/>
          <p:cNvSpPr txBox="1"/>
          <p:nvPr/>
        </p:nvSpPr>
        <p:spPr>
          <a:xfrm>
            <a:off x="1417320" y="50292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РЕЗУЛЬТАТ</a:t>
            </a:r>
            <a:endParaRPr lang="en-US" sz="1300" dirty="0"/>
          </a:p>
        </p:txBody>
      </p:sp>
      <p:sp>
        <p:nvSpPr>
          <p:cNvPr id="15" name="step3-body"/>
          <p:cNvSpPr txBox="1"/>
          <p:nvPr/>
        </p:nvSpPr>
        <p:spPr>
          <a:xfrm>
            <a:off x="1417320" y="5358384"/>
            <a:ext cx="4599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Общежитие №2 признано лучшим в СПбГПМУ. Команда впервые в истории вуза стала призёром конкурса «ОБЩАГА» СЗФО.</a:t>
            </a:r>
            <a:endParaRPr lang="en-US" sz="1600" dirty="0"/>
          </a:p>
        </p:txBody>
      </p:sp>
      <p:pic>
        <p:nvPicPr>
          <p:cNvPr id="16" name="photo-dorm1" descr="Студенческий совет и администрация в новом спортзале общежития №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691640"/>
            <a:ext cx="5123383" cy="2416690"/>
          </a:xfrm>
          <a:prstGeom prst="rect">
            <a:avLst/>
          </a:prstGeom>
        </p:spPr>
      </p:pic>
      <p:sp>
        <p:nvSpPr>
          <p:cNvPr id="17" name="cap-dorm1"/>
          <p:cNvSpPr txBox="1"/>
          <p:nvPr/>
        </p:nvSpPr>
        <p:spPr>
          <a:xfrm>
            <a:off x="6629400" y="3687706"/>
            <a:ext cx="209854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Спортзал в общежитии №2</a:t>
            </a:r>
            <a:endParaRPr lang="en-US" sz="1100" dirty="0"/>
          </a:p>
        </p:txBody>
      </p:sp>
      <p:pic>
        <p:nvPicPr>
          <p:cNvPr id="18" name="photo-dorm2" descr="Команда СПбГПМУ с дипломом окружного конкурса «ОБЩАГА» СЗФ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4272922"/>
            <a:ext cx="2479396" cy="1790177"/>
          </a:xfrm>
          <a:prstGeom prst="rect">
            <a:avLst/>
          </a:prstGeom>
        </p:spPr>
      </p:pic>
      <p:sp>
        <p:nvSpPr>
          <p:cNvPr id="19" name="cap-dorm2"/>
          <p:cNvSpPr txBox="1"/>
          <p:nvPr/>
        </p:nvSpPr>
        <p:spPr>
          <a:xfrm>
            <a:off x="6629400" y="5642476"/>
            <a:ext cx="132130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«ОБЩАГА» СЗФО</a:t>
            </a:r>
            <a:endParaRPr lang="en-US" sz="1100" dirty="0"/>
          </a:p>
        </p:txBody>
      </p:sp>
      <p:pic>
        <p:nvPicPr>
          <p:cNvPr id="20" name="photo-club" descr="Встреча Клуба иностранных обучающихся СПбГПМУ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660" y="4272922"/>
            <a:ext cx="2479396" cy="1790177"/>
          </a:xfrm>
          <a:prstGeom prst="rect">
            <a:avLst/>
          </a:prstGeom>
        </p:spPr>
      </p:pic>
      <p:sp>
        <p:nvSpPr>
          <p:cNvPr id="21" name="cap-club"/>
          <p:cNvSpPr txBox="1"/>
          <p:nvPr/>
        </p:nvSpPr>
        <p:spPr>
          <a:xfrm>
            <a:off x="9273388" y="5642476"/>
            <a:ext cx="2259940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Клуб иностранных студентов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ДОСТИЖЕНИЕ 3 ИЗ 3  ·  ГОРОД И МЕЖДУНАРОДНЫЙ УРОВЕНЬ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Представляю студентов в городе и мире</a:t>
            </a:r>
            <a:endParaRPr lang="en-US" sz="3200" dirty="0"/>
          </a:p>
        </p:txBody>
      </p:sp>
      <p:pic>
        <p:nvPicPr>
          <p:cNvPr id="4" name="photo-mfm" descr="Гозиев Мухаммадазиз с участниками Международного фестиваля молодёжи 2026 в Екатеринбург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670734" cy="1920240"/>
          </a:xfrm>
          <a:prstGeom prst="rect">
            <a:avLst/>
          </a:prstGeom>
        </p:spPr>
      </p:pic>
      <p:sp>
        <p:nvSpPr>
          <p:cNvPr id="5" name="cap-mfm"/>
          <p:cNvSpPr txBox="1"/>
          <p:nvPr/>
        </p:nvSpPr>
        <p:spPr>
          <a:xfrm>
            <a:off x="658368" y="3191256"/>
            <a:ext cx="2098548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Фестиваль молодёжи 2026</a:t>
            </a:r>
            <a:endParaRPr lang="en-US" sz="1100" dirty="0"/>
          </a:p>
        </p:txBody>
      </p:sp>
      <p:pic>
        <p:nvPicPr>
          <p:cNvPr id="6" name="photo-attache" descr="Представление команды атташе фестиваля, Гозиев на экране справ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534" y="1691640"/>
            <a:ext cx="2670734" cy="1920240"/>
          </a:xfrm>
          <a:prstGeom prst="rect">
            <a:avLst/>
          </a:prstGeom>
        </p:spPr>
      </p:pic>
      <p:sp>
        <p:nvSpPr>
          <p:cNvPr id="7" name="cap-attache"/>
          <p:cNvSpPr txBox="1"/>
          <p:nvPr/>
        </p:nvSpPr>
        <p:spPr>
          <a:xfrm>
            <a:off x="3466262" y="3191256"/>
            <a:ext cx="1399032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Команда атташе</a:t>
            </a:r>
            <a:endParaRPr lang="en-US" sz="1100" dirty="0"/>
          </a:p>
        </p:txBody>
      </p:sp>
      <p:pic>
        <p:nvPicPr>
          <p:cNvPr id="8" name="photo-mkd" descr="Заседание Международного клуба дружбы Санкт-Петербург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428" y="1691640"/>
            <a:ext cx="2670734" cy="1920240"/>
          </a:xfrm>
          <a:prstGeom prst="rect">
            <a:avLst/>
          </a:prstGeom>
        </p:spPr>
      </p:pic>
      <p:sp>
        <p:nvSpPr>
          <p:cNvPr id="9" name="cap-mkd"/>
          <p:cNvSpPr txBox="1"/>
          <p:nvPr/>
        </p:nvSpPr>
        <p:spPr>
          <a:xfrm>
            <a:off x="6274156" y="3191256"/>
            <a:ext cx="1632204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Заседание МКД СПб</a:t>
            </a:r>
            <a:endParaRPr lang="en-US" sz="1100" dirty="0"/>
          </a:p>
        </p:txBody>
      </p:sp>
      <p:pic>
        <p:nvPicPr>
          <p:cNvPr id="10" name="photo-bukhara" descr="Приём делегации Бухарского медицинского института в СПбГПМУ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321" y="1691640"/>
            <a:ext cx="2670734" cy="1920240"/>
          </a:xfrm>
          <a:prstGeom prst="rect">
            <a:avLst/>
          </a:prstGeom>
        </p:spPr>
      </p:pic>
      <p:sp>
        <p:nvSpPr>
          <p:cNvPr id="11" name="cap-bukhara"/>
          <p:cNvSpPr txBox="1"/>
          <p:nvPr/>
        </p:nvSpPr>
        <p:spPr>
          <a:xfrm>
            <a:off x="9082049" y="3191256"/>
            <a:ext cx="1787652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Делегация из Бухары</a:t>
            </a:r>
            <a:endParaRPr lang="en-US" sz="1100" dirty="0"/>
          </a:p>
        </p:txBody>
      </p:sp>
      <p:sp>
        <p:nvSpPr>
          <p:cNvPr id="12" name="step1-card"/>
          <p:cNvSpPr/>
          <p:nvPr/>
        </p:nvSpPr>
        <p:spPr>
          <a:xfrm>
            <a:off x="548640" y="3840480"/>
            <a:ext cx="3545738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13" name="step1-num"/>
          <p:cNvSpPr txBox="1"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step1-label"/>
          <p:cNvSpPr txBox="1"/>
          <p:nvPr/>
        </p:nvSpPr>
        <p:spPr>
          <a:xfrm>
            <a:off x="1417320" y="404164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ЧТО СДЕЛАЛ</a:t>
            </a:r>
            <a:endParaRPr lang="en-US" sz="1300" dirty="0"/>
          </a:p>
        </p:txBody>
      </p:sp>
      <p:sp>
        <p:nvSpPr>
          <p:cNvPr id="15" name="step1-body"/>
          <p:cNvSpPr txBox="1"/>
          <p:nvPr/>
        </p:nvSpPr>
        <p:spPr>
          <a:xfrm>
            <a:off x="777240" y="4645152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Вывел актив сектора на Всероссийский научный форум, организовал визит в Молодёжный парламент, был атташе фестиваля молодёжи.</a:t>
            </a:r>
            <a:endParaRPr lang="en-US" sz="1600" dirty="0"/>
          </a:p>
        </p:txBody>
      </p:sp>
      <p:sp>
        <p:nvSpPr>
          <p:cNvPr id="16" name="step2-card"/>
          <p:cNvSpPr/>
          <p:nvPr/>
        </p:nvSpPr>
        <p:spPr>
          <a:xfrm>
            <a:off x="4322978" y="3840480"/>
            <a:ext cx="3545738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17" name="step2-num"/>
          <p:cNvSpPr txBox="1"/>
          <p:nvPr/>
        </p:nvSpPr>
        <p:spPr>
          <a:xfrm>
            <a:off x="4551578" y="4041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step2-label"/>
          <p:cNvSpPr txBox="1"/>
          <p:nvPr/>
        </p:nvSpPr>
        <p:spPr>
          <a:xfrm>
            <a:off x="5191658" y="404164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МОЯ РОЛЬ</a:t>
            </a:r>
            <a:endParaRPr lang="en-US" sz="1300" dirty="0"/>
          </a:p>
        </p:txBody>
      </p:sp>
      <p:sp>
        <p:nvSpPr>
          <p:cNvPr id="19" name="step2-body"/>
          <p:cNvSpPr txBox="1"/>
          <p:nvPr/>
        </p:nvSpPr>
        <p:spPr>
          <a:xfrm>
            <a:off x="4551578" y="4645152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Руководитель сектора Международного клуба дружбы СПб, координатор узбекской молодёжи вуза, атташе делегации Петербурга.</a:t>
            </a:r>
            <a:endParaRPr lang="en-US" sz="1600" dirty="0"/>
          </a:p>
        </p:txBody>
      </p:sp>
      <p:sp>
        <p:nvSpPr>
          <p:cNvPr id="20" name="step3-card"/>
          <p:cNvSpPr/>
          <p:nvPr/>
        </p:nvSpPr>
        <p:spPr>
          <a:xfrm>
            <a:off x="8097317" y="3840480"/>
            <a:ext cx="3545738" cy="2377440"/>
          </a:xfrm>
          <a:prstGeom prst="roundRect">
            <a:avLst>
              <a:gd name="adj" fmla="val 5385"/>
            </a:avLst>
          </a:prstGeom>
          <a:solidFill>
            <a:schemeClr val="accent1"/>
          </a:solidFill>
          <a:ln/>
        </p:spPr>
      </p:sp>
      <p:sp>
        <p:nvSpPr>
          <p:cNvPr id="21" name="step3-num"/>
          <p:cNvSpPr txBox="1"/>
          <p:nvPr/>
        </p:nvSpPr>
        <p:spPr>
          <a:xfrm>
            <a:off x="8325917" y="404164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tep3-label"/>
          <p:cNvSpPr txBox="1"/>
          <p:nvPr/>
        </p:nvSpPr>
        <p:spPr>
          <a:xfrm>
            <a:off x="8965997" y="4041648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РЕЗУЛЬТАТ</a:t>
            </a:r>
            <a:endParaRPr lang="en-US" sz="1300" dirty="0"/>
          </a:p>
        </p:txBody>
      </p:sp>
      <p:sp>
        <p:nvSpPr>
          <p:cNvPr id="23" name="step3-body"/>
          <p:cNvSpPr txBox="1"/>
          <p:nvPr/>
        </p:nvSpPr>
        <p:spPr>
          <a:xfrm>
            <a:off x="8325917" y="4645152"/>
            <a:ext cx="30885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Звание «Йил координатори» от Генконсульства Узбекистана. Отчёт перед вице-губернатором СПб. На фестивале: 10 000 участников из 191 страны.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О СЕБЕ КАК ЛИДЕРЕ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Мой путь лидера: от общежития до мира</a:t>
            </a:r>
            <a:endParaRPr lang="en-US" sz="3200" dirty="0"/>
          </a:p>
        </p:txBody>
      </p:sp>
      <p:sp>
        <p:nvSpPr>
          <p:cNvPr id="4" name="path-statement"/>
          <p:cNvSpPr txBox="1"/>
          <p:nvPr/>
        </p:nvSpPr>
        <p:spPr>
          <a:xfrm>
            <a:off x="548640" y="16916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Начинал со студсовета общежития. Сегодня возглавляю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 сообщества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и представляю студентов на уровне города, России и мира.</a:t>
            </a:r>
            <a:endParaRPr lang="en-US" sz="2200" dirty="0"/>
          </a:p>
        </p:txBody>
      </p:sp>
      <p:sp>
        <p:nvSpPr>
          <p:cNvPr id="5" name="level1-card"/>
          <p:cNvSpPr/>
          <p:nvPr/>
        </p:nvSpPr>
        <p:spPr>
          <a:xfrm>
            <a:off x="548640" y="4160520"/>
            <a:ext cx="2636444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/>
        </p:spPr>
      </p:sp>
      <p:sp>
        <p:nvSpPr>
          <p:cNvPr id="6" name="level1-label"/>
          <p:cNvSpPr txBox="1"/>
          <p:nvPr/>
        </p:nvSpPr>
        <p:spPr>
          <a:xfrm>
            <a:off x="749808" y="434340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01  </a:t>
            </a:r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УНИВЕРСИТЕТ</a:t>
            </a:r>
            <a:endParaRPr lang="en-US" sz="1300" dirty="0"/>
          </a:p>
        </p:txBody>
      </p:sp>
      <p:sp>
        <p:nvSpPr>
          <p:cNvPr id="7" name="level1-items"/>
          <p:cNvSpPr txBox="1"/>
          <p:nvPr/>
        </p:nvSpPr>
        <p:spPr>
          <a:xfrm>
            <a:off x="749808" y="4764024"/>
            <a:ext cx="22706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Председатель студсовета общежития №2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Руководитель Клуба иностранных обучающихся</a:t>
            </a:r>
            <a:endParaRPr lang="en-US" sz="1400" dirty="0"/>
          </a:p>
        </p:txBody>
      </p:sp>
      <p:sp>
        <p:nvSpPr>
          <p:cNvPr id="8" name="level2-card"/>
          <p:cNvSpPr/>
          <p:nvPr/>
        </p:nvSpPr>
        <p:spPr>
          <a:xfrm>
            <a:off x="3367964" y="3611880"/>
            <a:ext cx="2636444" cy="260604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9" name="level2-label"/>
          <p:cNvSpPr txBox="1"/>
          <p:nvPr/>
        </p:nvSpPr>
        <p:spPr>
          <a:xfrm>
            <a:off x="3569132" y="379476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02  </a:t>
            </a:r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ГОРОД</a:t>
            </a:r>
            <a:endParaRPr lang="en-US" sz="1300" dirty="0"/>
          </a:p>
        </p:txBody>
      </p:sp>
      <p:sp>
        <p:nvSpPr>
          <p:cNvPr id="10" name="level2-items"/>
          <p:cNvSpPr txBox="1"/>
          <p:nvPr/>
        </p:nvSpPr>
        <p:spPr>
          <a:xfrm>
            <a:off x="3569132" y="4215384"/>
            <a:ext cx="22706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Руководитель сектора Международного клуба дружбы СПб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Отчёт на заседании с вице-губернатором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Визит актива в Молодёжный парламент</a:t>
            </a:r>
            <a:endParaRPr lang="en-US" sz="1400" dirty="0"/>
          </a:p>
        </p:txBody>
      </p:sp>
      <p:sp>
        <p:nvSpPr>
          <p:cNvPr id="11" name="level3-card"/>
          <p:cNvSpPr/>
          <p:nvPr/>
        </p:nvSpPr>
        <p:spPr>
          <a:xfrm>
            <a:off x="6187288" y="3063240"/>
            <a:ext cx="2636444" cy="3154680"/>
          </a:xfrm>
          <a:prstGeom prst="roundRect">
            <a:avLst>
              <a:gd name="adj" fmla="val 4856"/>
            </a:avLst>
          </a:prstGeom>
          <a:solidFill>
            <a:schemeClr val="accent3"/>
          </a:solidFill>
          <a:ln/>
        </p:spPr>
      </p:sp>
      <p:sp>
        <p:nvSpPr>
          <p:cNvPr id="12" name="level3-label"/>
          <p:cNvSpPr txBox="1"/>
          <p:nvPr/>
        </p:nvSpPr>
        <p:spPr>
          <a:xfrm>
            <a:off x="6388456" y="324612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03  </a:t>
            </a:r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РОССИЯ</a:t>
            </a:r>
            <a:endParaRPr lang="en-US" sz="1300" dirty="0"/>
          </a:p>
        </p:txBody>
      </p:sp>
      <p:sp>
        <p:nvSpPr>
          <p:cNvPr id="13" name="level3-items"/>
          <p:cNvSpPr txBox="1"/>
          <p:nvPr/>
        </p:nvSpPr>
        <p:spPr>
          <a:xfrm>
            <a:off x="6388456" y="3666744"/>
            <a:ext cx="22706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Атташе Международного фестиваля молодёжи 2026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Актив сектора на Всероссийском студенческом научном форуме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Акция «Россия: семья семей»</a:t>
            </a:r>
            <a:endParaRPr lang="en-US" sz="1400" dirty="0"/>
          </a:p>
        </p:txBody>
      </p:sp>
      <p:sp>
        <p:nvSpPr>
          <p:cNvPr id="14" name="level4-card"/>
          <p:cNvSpPr/>
          <p:nvPr/>
        </p:nvSpPr>
        <p:spPr>
          <a:xfrm>
            <a:off x="9006611" y="2514600"/>
            <a:ext cx="2636444" cy="3703320"/>
          </a:xfrm>
          <a:prstGeom prst="roundRect">
            <a:avLst>
              <a:gd name="adj" fmla="val 4856"/>
            </a:avLst>
          </a:prstGeom>
          <a:solidFill>
            <a:schemeClr val="accent1"/>
          </a:solidFill>
          <a:ln/>
        </p:spPr>
      </p:sp>
      <p:sp>
        <p:nvSpPr>
          <p:cNvPr id="15" name="level4-label"/>
          <p:cNvSpPr txBox="1"/>
          <p:nvPr/>
        </p:nvSpPr>
        <p:spPr>
          <a:xfrm>
            <a:off x="9207779" y="269748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04  </a:t>
            </a:r>
            <a:pPr indent="0" marL="0">
              <a:buNone/>
            </a:pPr>
            <a:r>
              <a:rPr lang="en-US" sz="1300" b="1" spc="150" kern="0" dirty="0">
                <a:solidFill>
                  <a:schemeClr val="bg1"/>
                </a:solidFill>
              </a:rPr>
              <a:t>МЕЖДУНАРОДНЫЙ</a:t>
            </a:r>
            <a:endParaRPr lang="en-US" sz="1300" dirty="0"/>
          </a:p>
        </p:txBody>
      </p:sp>
      <p:sp>
        <p:nvSpPr>
          <p:cNvPr id="16" name="level4-items"/>
          <p:cNvSpPr txBox="1"/>
          <p:nvPr/>
        </p:nvSpPr>
        <p:spPr>
          <a:xfrm>
            <a:off x="9207779" y="3118104"/>
            <a:ext cx="227068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Координатор узбекской молодёжи по назначению Генконсульства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Приём делегации Бухарского медицинского института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«Евразия Global», ПМЭФ 2026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Конгресс СНГ «Интеллектуальный код Содружества»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ПОДТВЕРЖДЕНИЯ  ·  СМИ И ПУБЛИКАЦИИ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Обо мне и моих проектах пишут</a:t>
            </a:r>
            <a:endParaRPr lang="en-US" sz="3200" dirty="0"/>
          </a:p>
        </p:txBody>
      </p:sp>
      <p:pic>
        <p:nvPicPr>
          <p:cNvPr id="4" name="photo-tv" descr="Гозиев Мухаммадазиз даёт интервью телеканал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291840" cy="4526280"/>
          </a:xfrm>
          <a:prstGeom prst="rect">
            <a:avLst/>
          </a:prstGeom>
        </p:spPr>
      </p:pic>
      <p:sp>
        <p:nvSpPr>
          <p:cNvPr id="5" name="cap-tv"/>
          <p:cNvSpPr txBox="1"/>
          <p:nvPr/>
        </p:nvSpPr>
        <p:spPr>
          <a:xfrm>
            <a:off x="658368" y="5797296"/>
            <a:ext cx="1787652" cy="310896"/>
          </a:xfrm>
          <a:prstGeom prst="roundRect">
            <a:avLst>
              <a:gd name="adj" fmla="val 23529"/>
            </a:avLst>
          </a:prstGeom>
          <a:solidFill>
            <a:schemeClr val="accent2">
              <a:alpha val="78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Интервью телеканалу</a:t>
            </a:r>
            <a:endParaRPr lang="en-US" sz="1100" dirty="0"/>
          </a:p>
        </p:txBody>
      </p:sp>
      <p:sp>
        <p:nvSpPr>
          <p:cNvPr id="6" name="qr_fest-card"/>
          <p:cNvSpPr/>
          <p:nvPr/>
        </p:nvSpPr>
        <p:spPr>
          <a:xfrm>
            <a:off x="4114800" y="1691640"/>
            <a:ext cx="3649828" cy="1389888"/>
          </a:xfrm>
          <a:prstGeom prst="roundRect">
            <a:avLst>
              <a:gd name="adj" fmla="val 9211"/>
            </a:avLst>
          </a:prstGeom>
          <a:solidFill>
            <a:schemeClr val="bg2"/>
          </a:solidFill>
          <a:ln/>
        </p:spPr>
      </p:sp>
      <p:pic>
        <p:nvPicPr>
          <p:cNvPr id="7" name="qr_fest-img" descr="QR-код: I Международный культурный фестиваль СПбГПМУ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37944"/>
            <a:ext cx="1097280" cy="1097280"/>
          </a:xfrm>
          <a:prstGeom prst="rect">
            <a:avLst/>
          </a:prstGeom>
        </p:spPr>
      </p:pic>
      <p:sp>
        <p:nvSpPr>
          <p:cNvPr id="8" name="qr_fest-tag"/>
          <p:cNvSpPr txBox="1"/>
          <p:nvPr/>
        </p:nvSpPr>
        <p:spPr>
          <a:xfrm>
            <a:off x="5541264" y="1856232"/>
            <a:ext cx="2040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ВКОНТАКТЕ  ·  МКД СПБ</a:t>
            </a:r>
            <a:endParaRPr lang="en-US" sz="1100" dirty="0"/>
          </a:p>
        </p:txBody>
      </p:sp>
      <p:sp>
        <p:nvSpPr>
          <p:cNvPr id="9" name="qr_fest-title"/>
          <p:cNvSpPr txBox="1"/>
          <p:nvPr/>
        </p:nvSpPr>
        <p:spPr>
          <a:xfrm>
            <a:off x="5541264" y="2148840"/>
            <a:ext cx="20404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 Международный культурный фестиваль СПбГПМУ</a:t>
            </a:r>
            <a:endParaRPr lang="en-US" sz="1500" dirty="0"/>
          </a:p>
        </p:txBody>
      </p:sp>
      <p:sp>
        <p:nvSpPr>
          <p:cNvPr id="10" name="qr_vicegov-card"/>
          <p:cNvSpPr/>
          <p:nvPr/>
        </p:nvSpPr>
        <p:spPr>
          <a:xfrm>
            <a:off x="7993228" y="1691640"/>
            <a:ext cx="3649828" cy="1389888"/>
          </a:xfrm>
          <a:prstGeom prst="roundRect">
            <a:avLst>
              <a:gd name="adj" fmla="val 9211"/>
            </a:avLst>
          </a:prstGeom>
          <a:solidFill>
            <a:schemeClr val="bg2"/>
          </a:solidFill>
          <a:ln/>
        </p:spPr>
      </p:sp>
      <p:pic>
        <p:nvPicPr>
          <p:cNvPr id="11" name="qr_vicegov-img" descr="QR-код: Заседание МКД с вице-губернатором Санкт-Петербург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532" y="1837944"/>
            <a:ext cx="1097280" cy="1097280"/>
          </a:xfrm>
          <a:prstGeom prst="rect">
            <a:avLst/>
          </a:prstGeom>
        </p:spPr>
      </p:pic>
      <p:sp>
        <p:nvSpPr>
          <p:cNvPr id="12" name="qr_vicegov-tag"/>
          <p:cNvSpPr txBox="1"/>
          <p:nvPr/>
        </p:nvSpPr>
        <p:spPr>
          <a:xfrm>
            <a:off x="9419692" y="1856232"/>
            <a:ext cx="2040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ВКОНТАКТЕ</a:t>
            </a:r>
            <a:endParaRPr lang="en-US" sz="1100" dirty="0"/>
          </a:p>
        </p:txBody>
      </p:sp>
      <p:sp>
        <p:nvSpPr>
          <p:cNvPr id="13" name="qr_vicegov-title"/>
          <p:cNvSpPr txBox="1"/>
          <p:nvPr/>
        </p:nvSpPr>
        <p:spPr>
          <a:xfrm>
            <a:off x="9419692" y="2148840"/>
            <a:ext cx="20404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Заседание МКД с вице-губернатором Санкт-Петербурга</a:t>
            </a:r>
            <a:endParaRPr lang="en-US" sz="1500" dirty="0"/>
          </a:p>
        </p:txBody>
      </p:sp>
      <p:sp>
        <p:nvSpPr>
          <p:cNvPr id="14" name="qr_rgo-card"/>
          <p:cNvSpPr/>
          <p:nvPr/>
        </p:nvSpPr>
        <p:spPr>
          <a:xfrm>
            <a:off x="4114800" y="3259836"/>
            <a:ext cx="3649828" cy="1389888"/>
          </a:xfrm>
          <a:prstGeom prst="roundRect">
            <a:avLst>
              <a:gd name="adj" fmla="val 9211"/>
            </a:avLst>
          </a:prstGeom>
          <a:solidFill>
            <a:schemeClr val="bg2"/>
          </a:solidFill>
          <a:ln/>
        </p:spPr>
      </p:sp>
      <p:pic>
        <p:nvPicPr>
          <p:cNvPr id="15" name="qr_rgo-img" descr="QR-код: МКД и Русское географическое обществ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3406140"/>
            <a:ext cx="1097280" cy="1097280"/>
          </a:xfrm>
          <a:prstGeom prst="rect">
            <a:avLst/>
          </a:prstGeom>
        </p:spPr>
      </p:pic>
      <p:sp>
        <p:nvSpPr>
          <p:cNvPr id="16" name="qr_rgo-tag"/>
          <p:cNvSpPr txBox="1"/>
          <p:nvPr/>
        </p:nvSpPr>
        <p:spPr>
          <a:xfrm>
            <a:off x="5541264" y="3424428"/>
            <a:ext cx="2040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ВКОНТАКТЕ  ·  МКД СПБ</a:t>
            </a:r>
            <a:endParaRPr lang="en-US" sz="1100" dirty="0"/>
          </a:p>
        </p:txBody>
      </p:sp>
      <p:sp>
        <p:nvSpPr>
          <p:cNvPr id="17" name="qr_rgo-title"/>
          <p:cNvSpPr txBox="1"/>
          <p:nvPr/>
        </p:nvSpPr>
        <p:spPr>
          <a:xfrm>
            <a:off x="5541264" y="3717036"/>
            <a:ext cx="20404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МКД и Русское географическое общество</a:t>
            </a:r>
            <a:endParaRPr lang="en-US" sz="1500" dirty="0"/>
          </a:p>
        </p:txBody>
      </p:sp>
      <p:sp>
        <p:nvSpPr>
          <p:cNvPr id="18" name="qr_obshaga-card"/>
          <p:cNvSpPr/>
          <p:nvPr/>
        </p:nvSpPr>
        <p:spPr>
          <a:xfrm>
            <a:off x="7993228" y="3259836"/>
            <a:ext cx="3649828" cy="1389888"/>
          </a:xfrm>
          <a:prstGeom prst="roundRect">
            <a:avLst>
              <a:gd name="adj" fmla="val 9211"/>
            </a:avLst>
          </a:prstGeom>
          <a:solidFill>
            <a:schemeClr val="bg2"/>
          </a:solidFill>
          <a:ln/>
        </p:spPr>
      </p:sp>
      <p:pic>
        <p:nvPicPr>
          <p:cNvPr id="19" name="qr_obshaga-img" descr="QR-код: Команда СПбГПМУ на конкурсе «ОБЩАГА» СЗФ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532" y="3406140"/>
            <a:ext cx="1097280" cy="1097280"/>
          </a:xfrm>
          <a:prstGeom prst="rect">
            <a:avLst/>
          </a:prstGeom>
        </p:spPr>
      </p:pic>
      <p:sp>
        <p:nvSpPr>
          <p:cNvPr id="20" name="qr_obshaga-tag"/>
          <p:cNvSpPr txBox="1"/>
          <p:nvPr/>
        </p:nvSpPr>
        <p:spPr>
          <a:xfrm>
            <a:off x="9419692" y="3424428"/>
            <a:ext cx="2040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ВКОНТАКТЕ</a:t>
            </a:r>
            <a:endParaRPr lang="en-US" sz="1100" dirty="0"/>
          </a:p>
        </p:txBody>
      </p:sp>
      <p:sp>
        <p:nvSpPr>
          <p:cNvPr id="21" name="qr_obshaga-title"/>
          <p:cNvSpPr txBox="1"/>
          <p:nvPr/>
        </p:nvSpPr>
        <p:spPr>
          <a:xfrm>
            <a:off x="9419692" y="3717036"/>
            <a:ext cx="20404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Команда СПбГПМУ на конкурсе «ОБЩАГА» СЗФО</a:t>
            </a:r>
            <a:endParaRPr lang="en-US" sz="1500" dirty="0"/>
          </a:p>
        </p:txBody>
      </p:sp>
      <p:sp>
        <p:nvSpPr>
          <p:cNvPr id="22" name="qr_tv-card"/>
          <p:cNvSpPr/>
          <p:nvPr/>
        </p:nvSpPr>
        <p:spPr>
          <a:xfrm>
            <a:off x="4114800" y="4828032"/>
            <a:ext cx="3649828" cy="1389888"/>
          </a:xfrm>
          <a:prstGeom prst="roundRect">
            <a:avLst>
              <a:gd name="adj" fmla="val 9211"/>
            </a:avLst>
          </a:prstGeom>
          <a:solidFill>
            <a:schemeClr val="bg2"/>
          </a:solidFill>
          <a:ln/>
        </p:spPr>
      </p:sp>
      <p:pic>
        <p:nvPicPr>
          <p:cNvPr id="23" name="qr_tv-img" descr="QR-код: Памятная акция в канун Дня памяти жертв блокады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4974336"/>
            <a:ext cx="1097280" cy="1097280"/>
          </a:xfrm>
          <a:prstGeom prst="rect">
            <a:avLst/>
          </a:prstGeom>
        </p:spPr>
      </p:pic>
      <p:sp>
        <p:nvSpPr>
          <p:cNvPr id="24" name="qr_tv-tag"/>
          <p:cNvSpPr txBox="1"/>
          <p:nvPr/>
        </p:nvSpPr>
        <p:spPr>
          <a:xfrm>
            <a:off x="5541264" y="4992624"/>
            <a:ext cx="2040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ИНТЕРВЬЮ</a:t>
            </a:r>
            <a:endParaRPr lang="en-US" sz="1100" dirty="0"/>
          </a:p>
        </p:txBody>
      </p:sp>
      <p:sp>
        <p:nvSpPr>
          <p:cNvPr id="25" name="qr_tv-title"/>
          <p:cNvSpPr txBox="1"/>
          <p:nvPr/>
        </p:nvSpPr>
        <p:spPr>
          <a:xfrm>
            <a:off x="5541264" y="5285232"/>
            <a:ext cx="20404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Памятная акция в канун Дня памяти жертв блокады</a:t>
            </a:r>
            <a:endParaRPr lang="en-US" sz="1500" dirty="0"/>
          </a:p>
        </p:txBody>
      </p:sp>
      <p:sp>
        <p:nvSpPr>
          <p:cNvPr id="26" name="hint-card"/>
          <p:cNvSpPr/>
          <p:nvPr/>
        </p:nvSpPr>
        <p:spPr>
          <a:xfrm>
            <a:off x="7993228" y="4828032"/>
            <a:ext cx="3649828" cy="1389888"/>
          </a:xfrm>
          <a:prstGeom prst="roundRect">
            <a:avLst>
              <a:gd name="adj" fmla="val 921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pic>
        <p:nvPicPr>
          <p:cNvPr id="27" name="hint-icon" descr="Иконка телефона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548" y="5248656"/>
            <a:ext cx="548640" cy="548640"/>
          </a:xfrm>
          <a:prstGeom prst="rect">
            <a:avLst/>
          </a:prstGeom>
        </p:spPr>
      </p:pic>
      <p:sp>
        <p:nvSpPr>
          <p:cNvPr id="28" name="hint-text"/>
          <p:cNvSpPr txBox="1"/>
          <p:nvPr/>
        </p:nvSpPr>
        <p:spPr>
          <a:xfrm>
            <a:off x="9044788" y="5010912"/>
            <a:ext cx="24153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Наведите камеру телефона на QR-код, чтобы открыть публикацию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ИТОГИ И ПЛАНЫ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Чему я научился и куда расту дальше</a:t>
            </a:r>
            <a:endParaRPr lang="en-US" sz="3200" dirty="0"/>
          </a:p>
        </p:txBody>
      </p:sp>
      <p:sp>
        <p:nvSpPr>
          <p:cNvPr id="4" name="lessons-head"/>
          <p:cNvSpPr txBox="1"/>
          <p:nvPr/>
        </p:nvSpPr>
        <p:spPr>
          <a:xfrm>
            <a:off x="5486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Чему я научился</a:t>
            </a:r>
            <a:endParaRPr lang="en-US" sz="2000" dirty="0"/>
          </a:p>
        </p:txBody>
      </p:sp>
      <p:sp>
        <p:nvSpPr>
          <p:cNvPr id="5" name="lesson1-circle"/>
          <p:cNvSpPr/>
          <p:nvPr/>
        </p:nvSpPr>
        <p:spPr>
          <a:xfrm>
            <a:off x="548640" y="2331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lesson1-icon" descr="И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365760" cy="365760"/>
          </a:xfrm>
          <a:prstGeom prst="rect">
            <a:avLst/>
          </a:prstGeom>
        </p:spPr>
      </p:pic>
      <p:sp>
        <p:nvSpPr>
          <p:cNvPr id="7" name="lesson1"/>
          <p:cNvSpPr txBox="1"/>
          <p:nvPr/>
        </p:nvSpPr>
        <p:spPr>
          <a:xfrm>
            <a:off x="1508760" y="22860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Собирать команду из разных организаций вокруг одной идеи</a:t>
            </a:r>
            <a:endParaRPr lang="en-US" sz="1700" dirty="0"/>
          </a:p>
        </p:txBody>
      </p:sp>
      <p:sp>
        <p:nvSpPr>
          <p:cNvPr id="8" name="lesson2-circle"/>
          <p:cNvSpPr/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lesson2-icon" descr="И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94760"/>
            <a:ext cx="365760" cy="365760"/>
          </a:xfrm>
          <a:prstGeom prst="rect">
            <a:avLst/>
          </a:prstGeom>
        </p:spPr>
      </p:pic>
      <p:sp>
        <p:nvSpPr>
          <p:cNvPr id="10" name="lesson2"/>
          <p:cNvSpPr txBox="1"/>
          <p:nvPr/>
        </p:nvSpPr>
        <p:spPr>
          <a:xfrm>
            <a:off x="1508760" y="35661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Договариваться с администрацией, партнёрами и консульством</a:t>
            </a:r>
            <a:endParaRPr lang="en-US" sz="1700" dirty="0"/>
          </a:p>
        </p:txBody>
      </p:sp>
      <p:sp>
        <p:nvSpPr>
          <p:cNvPr id="11" name="lesson3-circle"/>
          <p:cNvSpPr/>
          <p:nvPr/>
        </p:nvSpPr>
        <p:spPr>
          <a:xfrm>
            <a:off x="548640" y="4892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esson3-icon" descr="И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74920"/>
            <a:ext cx="365760" cy="365760"/>
          </a:xfrm>
          <a:prstGeom prst="rect">
            <a:avLst/>
          </a:prstGeom>
        </p:spPr>
      </p:pic>
      <p:sp>
        <p:nvSpPr>
          <p:cNvPr id="13" name="lesson3"/>
          <p:cNvSpPr txBox="1"/>
          <p:nvPr/>
        </p:nvSpPr>
        <p:spPr>
          <a:xfrm>
            <a:off x="1508760" y="4846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Отвечать за результат: от идеи до отчёта перед руководством</a:t>
            </a:r>
            <a:endParaRPr lang="en-US" sz="1700" dirty="0"/>
          </a:p>
        </p:txBody>
      </p:sp>
      <p:sp>
        <p:nvSpPr>
          <p:cNvPr id="14" name="plans-head"/>
          <p:cNvSpPr txBox="1"/>
          <p:nvPr/>
        </p:nvSpPr>
        <p:spPr>
          <a:xfrm>
            <a:off x="6035040" y="169164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Мои планы на 2026/2027</a:t>
            </a:r>
            <a:endParaRPr lang="en-US" sz="2000" dirty="0"/>
          </a:p>
        </p:txBody>
      </p:sp>
      <p:sp>
        <p:nvSpPr>
          <p:cNvPr id="15" name="plan1-card"/>
          <p:cNvSpPr/>
          <p:nvPr/>
        </p:nvSpPr>
        <p:spPr>
          <a:xfrm>
            <a:off x="6035040" y="2331720"/>
            <a:ext cx="2689708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</p:sp>
      <p:sp>
        <p:nvSpPr>
          <p:cNvPr id="16" name="plan1-num"/>
          <p:cNvSpPr txBox="1"/>
          <p:nvPr/>
        </p:nvSpPr>
        <p:spPr>
          <a:xfrm>
            <a:off x="6236208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17" name="plan1-head"/>
          <p:cNvSpPr txBox="1"/>
          <p:nvPr/>
        </p:nvSpPr>
        <p:spPr>
          <a:xfrm>
            <a:off x="6236208" y="2953512"/>
            <a:ext cx="2287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Фестиваль-традиция</a:t>
            </a:r>
            <a:endParaRPr lang="en-US" sz="1600" dirty="0"/>
          </a:p>
        </p:txBody>
      </p:sp>
      <p:sp>
        <p:nvSpPr>
          <p:cNvPr id="18" name="plan1-text"/>
          <p:cNvSpPr txBox="1"/>
          <p:nvPr/>
        </p:nvSpPr>
        <p:spPr>
          <a:xfrm>
            <a:off x="6236208" y="3319272"/>
            <a:ext cx="2287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II фестиваль с участием студентов других вузов Петербурга</a:t>
            </a:r>
            <a:endParaRPr lang="en-US" sz="1400" dirty="0"/>
          </a:p>
        </p:txBody>
      </p:sp>
      <p:sp>
        <p:nvSpPr>
          <p:cNvPr id="19" name="plan2-card"/>
          <p:cNvSpPr/>
          <p:nvPr/>
        </p:nvSpPr>
        <p:spPr>
          <a:xfrm>
            <a:off x="8953348" y="2331720"/>
            <a:ext cx="2689708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</p:sp>
      <p:sp>
        <p:nvSpPr>
          <p:cNvPr id="20" name="plan2-num"/>
          <p:cNvSpPr txBox="1"/>
          <p:nvPr/>
        </p:nvSpPr>
        <p:spPr>
          <a:xfrm>
            <a:off x="9154516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02</a:t>
            </a:r>
            <a:endParaRPr lang="en-US" sz="2400" dirty="0"/>
          </a:p>
        </p:txBody>
      </p:sp>
      <p:sp>
        <p:nvSpPr>
          <p:cNvPr id="21" name="plan2-head"/>
          <p:cNvSpPr txBox="1"/>
          <p:nvPr/>
        </p:nvSpPr>
        <p:spPr>
          <a:xfrm>
            <a:off x="9154516" y="2953512"/>
            <a:ext cx="2287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Наставничество</a:t>
            </a:r>
            <a:endParaRPr lang="en-US" sz="1600" dirty="0"/>
          </a:p>
        </p:txBody>
      </p:sp>
      <p:sp>
        <p:nvSpPr>
          <p:cNvPr id="22" name="plan2-text"/>
          <p:cNvSpPr txBox="1"/>
          <p:nvPr/>
        </p:nvSpPr>
        <p:spPr>
          <a:xfrm>
            <a:off x="9154516" y="3319272"/>
            <a:ext cx="2287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старшекурсники помогают первокурсникам из других стран</a:t>
            </a:r>
            <a:endParaRPr lang="en-US" sz="1400" dirty="0"/>
          </a:p>
        </p:txBody>
      </p:sp>
      <p:sp>
        <p:nvSpPr>
          <p:cNvPr id="23" name="plan3-card"/>
          <p:cNvSpPr/>
          <p:nvPr/>
        </p:nvSpPr>
        <p:spPr>
          <a:xfrm>
            <a:off x="6035040" y="4389120"/>
            <a:ext cx="2689708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</p:sp>
      <p:sp>
        <p:nvSpPr>
          <p:cNvPr id="24" name="plan3-num"/>
          <p:cNvSpPr txBox="1"/>
          <p:nvPr/>
        </p:nvSpPr>
        <p:spPr>
          <a:xfrm>
            <a:off x="6236208" y="4526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03</a:t>
            </a:r>
            <a:endParaRPr lang="en-US" sz="2400" dirty="0"/>
          </a:p>
        </p:txBody>
      </p:sp>
      <p:sp>
        <p:nvSpPr>
          <p:cNvPr id="25" name="plan3-head"/>
          <p:cNvSpPr txBox="1"/>
          <p:nvPr/>
        </p:nvSpPr>
        <p:spPr>
          <a:xfrm>
            <a:off x="6236208" y="5010912"/>
            <a:ext cx="2287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Научная секция</a:t>
            </a:r>
            <a:endParaRPr lang="en-US" sz="1600" dirty="0"/>
          </a:p>
        </p:txBody>
      </p:sp>
      <p:sp>
        <p:nvSpPr>
          <p:cNvPr id="26" name="plan3-text"/>
          <p:cNvSpPr txBox="1"/>
          <p:nvPr/>
        </p:nvSpPr>
        <p:spPr>
          <a:xfrm>
            <a:off x="6236208" y="5376672"/>
            <a:ext cx="2287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межвузовская секция иностранных студентов при МКД СПб</a:t>
            </a:r>
            <a:endParaRPr lang="en-US" sz="1400" dirty="0"/>
          </a:p>
        </p:txBody>
      </p:sp>
      <p:sp>
        <p:nvSpPr>
          <p:cNvPr id="27" name="plan4-card"/>
          <p:cNvSpPr/>
          <p:nvPr/>
        </p:nvSpPr>
        <p:spPr>
          <a:xfrm>
            <a:off x="8953348" y="4389120"/>
            <a:ext cx="2689708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</p:sp>
      <p:sp>
        <p:nvSpPr>
          <p:cNvPr id="28" name="plan4-num"/>
          <p:cNvSpPr txBox="1"/>
          <p:nvPr/>
        </p:nvSpPr>
        <p:spPr>
          <a:xfrm>
            <a:off x="9154516" y="4526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29" name="plan4-head"/>
          <p:cNvSpPr txBox="1"/>
          <p:nvPr/>
        </p:nvSpPr>
        <p:spPr>
          <a:xfrm>
            <a:off x="9154516" y="5010912"/>
            <a:ext cx="22873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Связи с Узбекистаном</a:t>
            </a:r>
            <a:endParaRPr lang="en-US" sz="1600" dirty="0"/>
          </a:p>
        </p:txBody>
      </p:sp>
      <p:sp>
        <p:nvSpPr>
          <p:cNvPr id="30" name="plan4-text"/>
          <p:cNvSpPr txBox="1"/>
          <p:nvPr/>
        </p:nvSpPr>
        <p:spPr>
          <a:xfrm>
            <a:off x="9154516" y="5376672"/>
            <a:ext cx="2287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партнёрство СПбГПМУ с медицинскими вузами Узбекистана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731520" y="10972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Спасибо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 внимание!</a:t>
            </a:r>
            <a:endParaRPr lang="en-US" sz="4800" dirty="0"/>
          </a:p>
        </p:txBody>
      </p:sp>
      <p:sp>
        <p:nvSpPr>
          <p:cNvPr id="3" name="quote"/>
          <p:cNvSpPr txBox="1"/>
          <p:nvPr/>
        </p:nvSpPr>
        <p:spPr>
          <a:xfrm>
            <a:off x="731520" y="30632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«Хочу, чтобы иностранный студент в нашем университете с первых дней чувствовал себя своим»</a:t>
            </a:r>
            <a:endParaRPr lang="en-US" sz="2000" dirty="0"/>
          </a:p>
        </p:txBody>
      </p:sp>
      <p:sp>
        <p:nvSpPr>
          <p:cNvPr id="4" name="signature"/>
          <p:cNvSpPr txBox="1"/>
          <p:nvPr/>
        </p:nvSpPr>
        <p:spPr>
          <a:xfrm>
            <a:off x="731520" y="44348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Гозиев Мухаммадазиз Кодир угли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СПбГПМУ, лечебный факультет, 5 курс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Номинация «Лидер поколения»  ·  СтудRussia, СЗФО 2026</a:t>
            </a:r>
            <a:endParaRPr lang="en-US" sz="2000" dirty="0"/>
          </a:p>
        </p:txBody>
      </p:sp>
      <p:sp>
        <p:nvSpPr>
          <p:cNvPr id="5" name="questions"/>
          <p:cNvSpPr txBox="1"/>
          <p:nvPr/>
        </p:nvSpPr>
        <p:spPr>
          <a:xfrm>
            <a:off x="731520" y="5715000"/>
            <a:ext cx="384048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Готов ответить на ваши вопросы</a:t>
            </a:r>
            <a:endParaRPr lang="en-US" sz="1400" dirty="0"/>
          </a:p>
        </p:txBody>
      </p:sp>
      <p:sp>
        <p:nvSpPr>
          <p:cNvPr id="6" name="portrait-panel"/>
          <p:cNvSpPr/>
          <p:nvPr/>
        </p:nvSpPr>
        <p:spPr>
          <a:xfrm>
            <a:off x="7909560" y="960120"/>
            <a:ext cx="3749040" cy="40690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pic>
        <p:nvPicPr>
          <p:cNvPr id="7" name="portrait-end" descr="Портрет: Гозиев Мухаммадази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188720"/>
            <a:ext cx="3291840" cy="3611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udRussia Leader">
  <a:themeElements>
    <a:clrScheme name="StudRussia Leader">
      <a:dk1>
        <a:srgbClr val="16161A"/>
      </a:dk1>
      <a:lt1>
        <a:srgbClr val="FFFFFF"/>
      </a:lt1>
      <a:dk2>
        <a:srgbClr val="5F6368"/>
      </a:dk2>
      <a:lt2>
        <a:srgbClr val="FBE6EB"/>
      </a:lt2>
      <a:accent1>
        <a:srgbClr val="C8102E"/>
      </a:accent1>
      <a:accent2>
        <a:srgbClr val="141418"/>
      </a:accent2>
      <a:accent3>
        <a:srgbClr val="F4C9D3"/>
      </a:accent3>
      <a:accent4>
        <a:srgbClr val="9E0B23"/>
      </a:accent4>
      <a:accent5>
        <a:srgbClr val="2B2B31"/>
      </a:accent5>
      <a:accent6>
        <a:srgbClr val="B9B9C2"/>
      </a:accent6>
      <a:hlink>
        <a:srgbClr val="C8102E"/>
      </a:hlink>
      <a:folHlink>
        <a:srgbClr val="9E0B23"/>
      </a:folHlink>
    </a:clrScheme>
    <a:fontScheme name="StudRussia Lead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Гозиев Мухаммадазиз: презентация достижений, СтудRussia 2026</dc:title>
  <dc:subject>СтудRussia, СЗФО 2026, номинация «Лидер поколения»</dc:subject>
  <dc:creator>Гозиев Мухаммадазиз Кодир угли</dc:creator>
  <cp:lastModifiedBy>Гозиев Мухаммадазиз Кодир угли</cp:lastModifiedBy>
  <cp:revision>1</cp:revision>
  <dcterms:created xsi:type="dcterms:W3CDTF">2026-10-21T17:36:56Z</dcterms:created>
  <dcterms:modified xsi:type="dcterms:W3CDTF">2026-10-21T17:36:56Z</dcterms:modified>
</cp:coreProperties>
</file>